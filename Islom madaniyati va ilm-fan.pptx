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LXGW Bright" panose="020B0604020202020204" charset="-120"/>
      <p:regular r:id="rId10"/>
    </p:embeddedFont>
    <p:embeddedFont>
      <p:font typeface="思源宋体" panose="020B0604020202020204" charset="-128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70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rtofislamicpattern.com/9f4d35ca6e6d69759cbb3b6dc50ee6c215e2e6c4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9248" b="1924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27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AE8E6B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381000" y="196024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Islom madaniyati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AE8E6B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va ilm-fan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0334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E8E6B"/>
              </a:gs>
              <a:gs pos="100000">
                <a:srgbClr val="C9A87C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24624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Islom sivilizatsiyasining ilm-fanga qo'shgan hissasi • O'rta asrlarda ilm rivoji • Buyuk allomalar merosi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716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AE8E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ASOSIY TUSHUNCHALAR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Islom madaniyatining asoslari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77340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988815"/>
                </a:lnTo>
                <a:cubicBezTo>
                  <a:pt x="5608320" y="2051944"/>
                  <a:pt x="5557144" y="2103120"/>
                  <a:pt x="54940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9735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8664" y="210693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5038" y="83344"/>
                </a:moveTo>
                <a:lnTo>
                  <a:pt x="149275" y="83344"/>
                </a:lnTo>
                <a:cubicBezTo>
                  <a:pt x="165460" y="83344"/>
                  <a:pt x="178594" y="70210"/>
                  <a:pt x="178594" y="54025"/>
                </a:cubicBezTo>
                <a:cubicBezTo>
                  <a:pt x="178594" y="44537"/>
                  <a:pt x="174017" y="35644"/>
                  <a:pt x="166278" y="30138"/>
                </a:cubicBezTo>
                <a:lnTo>
                  <a:pt x="110617" y="-9451"/>
                </a:lnTo>
                <a:cubicBezTo>
                  <a:pt x="108533" y="-10902"/>
                  <a:pt x="105780" y="-10902"/>
                  <a:pt x="103733" y="-9451"/>
                </a:cubicBezTo>
                <a:lnTo>
                  <a:pt x="48034" y="30138"/>
                </a:lnTo>
                <a:cubicBezTo>
                  <a:pt x="40295" y="35644"/>
                  <a:pt x="35719" y="44537"/>
                  <a:pt x="35719" y="54025"/>
                </a:cubicBezTo>
                <a:cubicBezTo>
                  <a:pt x="35719" y="70210"/>
                  <a:pt x="48853" y="83344"/>
                  <a:pt x="65038" y="83344"/>
                </a:cubicBezTo>
                <a:close/>
                <a:moveTo>
                  <a:pt x="190500" y="190500"/>
                </a:moveTo>
                <a:cubicBezTo>
                  <a:pt x="203634" y="190500"/>
                  <a:pt x="214313" y="179822"/>
                  <a:pt x="214313" y="166688"/>
                </a:cubicBezTo>
                <a:lnTo>
                  <a:pt x="214313" y="83344"/>
                </a:lnTo>
                <a:cubicBezTo>
                  <a:pt x="214313" y="76758"/>
                  <a:pt x="208992" y="71438"/>
                  <a:pt x="202406" y="71438"/>
                </a:cubicBezTo>
                <a:cubicBezTo>
                  <a:pt x="195821" y="71438"/>
                  <a:pt x="190500" y="76758"/>
                  <a:pt x="190500" y="83344"/>
                </a:cubicBezTo>
                <a:lnTo>
                  <a:pt x="190500" y="101203"/>
                </a:lnTo>
                <a:lnTo>
                  <a:pt x="23812" y="101203"/>
                </a:lnTo>
                <a:lnTo>
                  <a:pt x="23812" y="83344"/>
                </a:ln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90500" y="190500"/>
                </a:lnTo>
                <a:close/>
                <a:moveTo>
                  <a:pt x="89297" y="142875"/>
                </a:moveTo>
                <a:cubicBezTo>
                  <a:pt x="89297" y="133015"/>
                  <a:pt x="97296" y="125016"/>
                  <a:pt x="107156" y="125016"/>
                </a:cubicBezTo>
                <a:cubicBezTo>
                  <a:pt x="117016" y="125016"/>
                  <a:pt x="125016" y="133015"/>
                  <a:pt x="125016" y="142875"/>
                </a:cubicBezTo>
                <a:lnTo>
                  <a:pt x="125016" y="172641"/>
                </a:lnTo>
                <a:lnTo>
                  <a:pt x="89297" y="172641"/>
                </a:lnTo>
                <a:lnTo>
                  <a:pt x="89297" y="142875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1226820" y="1973580"/>
            <a:ext cx="464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Ilm olishni targ'ib qilish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6820" y="2392561"/>
            <a:ext cx="4610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Islom dini ilm olishni katta ahamiyat bilan qabul qiladi va barcha musulmonlarni bilim olishga undaydi. Bu tushuncha Islom dinining asosiy qadriyatlaridan biri hisoblanadi.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5060" y="1577340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988815"/>
                </a:lnTo>
                <a:cubicBezTo>
                  <a:pt x="5608320" y="2051944"/>
                  <a:pt x="5557144" y="2103120"/>
                  <a:pt x="54940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7470" y="19735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572726" y="210693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90500"/>
                </a:moveTo>
                <a:lnTo>
                  <a:pt x="130969" y="190500"/>
                </a:lnTo>
                <a:cubicBezTo>
                  <a:pt x="150688" y="190500"/>
                  <a:pt x="166688" y="174501"/>
                  <a:pt x="166688" y="154781"/>
                </a:cubicBezTo>
                <a:lnTo>
                  <a:pt x="166688" y="35719"/>
                </a:lnTo>
                <a:cubicBezTo>
                  <a:pt x="166688" y="15999"/>
                  <a:pt x="150688" y="0"/>
                  <a:pt x="130969" y="0"/>
                </a:cubicBezTo>
                <a:lnTo>
                  <a:pt x="17859" y="0"/>
                </a:lnTo>
                <a:cubicBezTo>
                  <a:pt x="8000" y="0"/>
                  <a:pt x="0" y="8000"/>
                  <a:pt x="0" y="17859"/>
                </a:cubicBezTo>
                <a:lnTo>
                  <a:pt x="0" y="125016"/>
                </a:lnTo>
                <a:cubicBezTo>
                  <a:pt x="0" y="132792"/>
                  <a:pt x="4986" y="139415"/>
                  <a:pt x="11906" y="141870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23812" y="190500"/>
                </a:lnTo>
                <a:close/>
                <a:moveTo>
                  <a:pt x="130969" y="142875"/>
                </a:moveTo>
                <a:cubicBezTo>
                  <a:pt x="137554" y="142875"/>
                  <a:pt x="142875" y="148196"/>
                  <a:pt x="142875" y="154781"/>
                </a:cubicBezTo>
                <a:cubicBezTo>
                  <a:pt x="142875" y="161367"/>
                  <a:pt x="137554" y="166688"/>
                  <a:pt x="130969" y="166688"/>
                </a:cubicBezTo>
                <a:lnTo>
                  <a:pt x="35719" y="166688"/>
                </a:lnTo>
                <a:lnTo>
                  <a:pt x="35719" y="142875"/>
                </a:lnTo>
                <a:lnTo>
                  <a:pt x="130969" y="142875"/>
                </a:lnTo>
                <a:close/>
                <a:moveTo>
                  <a:pt x="101612" y="53727"/>
                </a:moveTo>
                <a:cubicBezTo>
                  <a:pt x="102543" y="51457"/>
                  <a:pt x="105780" y="51457"/>
                  <a:pt x="106710" y="53727"/>
                </a:cubicBezTo>
                <a:lnTo>
                  <a:pt x="110542" y="62954"/>
                </a:lnTo>
                <a:lnTo>
                  <a:pt x="120514" y="63736"/>
                </a:lnTo>
                <a:cubicBezTo>
                  <a:pt x="122969" y="63922"/>
                  <a:pt x="123937" y="66973"/>
                  <a:pt x="122076" y="68573"/>
                </a:cubicBezTo>
                <a:lnTo>
                  <a:pt x="114523" y="75121"/>
                </a:lnTo>
                <a:lnTo>
                  <a:pt x="116830" y="84832"/>
                </a:lnTo>
                <a:cubicBezTo>
                  <a:pt x="117388" y="87213"/>
                  <a:pt x="114784" y="89111"/>
                  <a:pt x="112700" y="87846"/>
                </a:cubicBezTo>
                <a:lnTo>
                  <a:pt x="104180" y="82637"/>
                </a:lnTo>
                <a:lnTo>
                  <a:pt x="95659" y="87846"/>
                </a:lnTo>
                <a:cubicBezTo>
                  <a:pt x="93576" y="89111"/>
                  <a:pt x="90971" y="87250"/>
                  <a:pt x="91529" y="84832"/>
                </a:cubicBezTo>
                <a:lnTo>
                  <a:pt x="93836" y="75121"/>
                </a:lnTo>
                <a:lnTo>
                  <a:pt x="86246" y="68610"/>
                </a:lnTo>
                <a:cubicBezTo>
                  <a:pt x="84386" y="67010"/>
                  <a:pt x="85390" y="63959"/>
                  <a:pt x="87809" y="63773"/>
                </a:cubicBezTo>
                <a:lnTo>
                  <a:pt x="97780" y="62992"/>
                </a:lnTo>
                <a:lnTo>
                  <a:pt x="101612" y="53764"/>
                </a:lnTo>
                <a:close/>
                <a:moveTo>
                  <a:pt x="37207" y="71438"/>
                </a:moveTo>
                <a:cubicBezTo>
                  <a:pt x="37207" y="45951"/>
                  <a:pt x="57857" y="25301"/>
                  <a:pt x="83344" y="25301"/>
                </a:cubicBezTo>
                <a:cubicBezTo>
                  <a:pt x="92199" y="25301"/>
                  <a:pt x="100496" y="27794"/>
                  <a:pt x="107528" y="32147"/>
                </a:cubicBezTo>
                <a:cubicBezTo>
                  <a:pt x="109314" y="33226"/>
                  <a:pt x="110096" y="35421"/>
                  <a:pt x="109389" y="37393"/>
                </a:cubicBezTo>
                <a:cubicBezTo>
                  <a:pt x="108682" y="39365"/>
                  <a:pt x="106747" y="40593"/>
                  <a:pt x="104663" y="40370"/>
                </a:cubicBezTo>
                <a:cubicBezTo>
                  <a:pt x="103510" y="40258"/>
                  <a:pt x="102357" y="40184"/>
                  <a:pt x="101166" y="40184"/>
                </a:cubicBezTo>
                <a:cubicBezTo>
                  <a:pt x="83902" y="40184"/>
                  <a:pt x="69912" y="54173"/>
                  <a:pt x="69912" y="71438"/>
                </a:cubicBezTo>
                <a:cubicBezTo>
                  <a:pt x="69912" y="88702"/>
                  <a:pt x="83902" y="102691"/>
                  <a:pt x="101166" y="102691"/>
                </a:cubicBezTo>
                <a:cubicBezTo>
                  <a:pt x="102357" y="102691"/>
                  <a:pt x="103510" y="102617"/>
                  <a:pt x="104663" y="102505"/>
                </a:cubicBezTo>
                <a:cubicBezTo>
                  <a:pt x="106747" y="102282"/>
                  <a:pt x="108682" y="103510"/>
                  <a:pt x="109389" y="105482"/>
                </a:cubicBezTo>
                <a:cubicBezTo>
                  <a:pt x="110096" y="107454"/>
                  <a:pt x="109277" y="109649"/>
                  <a:pt x="107528" y="110728"/>
                </a:cubicBezTo>
                <a:cubicBezTo>
                  <a:pt x="100496" y="115081"/>
                  <a:pt x="92199" y="117574"/>
                  <a:pt x="83344" y="117574"/>
                </a:cubicBezTo>
                <a:cubicBezTo>
                  <a:pt x="57857" y="117574"/>
                  <a:pt x="37207" y="96924"/>
                  <a:pt x="37207" y="71438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4" name="Text 12"/>
          <p:cNvSpPr/>
          <p:nvPr/>
        </p:nvSpPr>
        <p:spPr>
          <a:xfrm>
            <a:off x="7037070" y="1973580"/>
            <a:ext cx="464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Qur'ondagi chaqiriqlar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37070" y="2392561"/>
            <a:ext cx="4610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Qur'onda ko'p joylarda bilim olishga chaqiriqlar mavjud. "O'qing! Rabbingizning eng karamli nomi bilan o'qing" degan oyat ilm olishning muhimligini ko'rsatadi.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3882390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988815"/>
                </a:lnTo>
                <a:cubicBezTo>
                  <a:pt x="5608320" y="2051944"/>
                  <a:pt x="5557144" y="2103120"/>
                  <a:pt x="54940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" y="42786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8664" y="441198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9" name="Text 17"/>
          <p:cNvSpPr/>
          <p:nvPr/>
        </p:nvSpPr>
        <p:spPr>
          <a:xfrm>
            <a:off x="1226820" y="4278630"/>
            <a:ext cx="464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"Ilm izlash farz"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6820" y="4697611"/>
            <a:ext cx="4610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"Ilm izlash har bir musulmonga farz" degan tushuncha Islom madaniyatida keng tarqalgan. Bu hadis orqali ilm olishning har bir musulmon uchun majburiy ekanligi ta'kidlanadi.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5060" y="3882390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988815"/>
                </a:lnTo>
                <a:cubicBezTo>
                  <a:pt x="5608320" y="2051944"/>
                  <a:pt x="5557144" y="2103120"/>
                  <a:pt x="54940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7470" y="42786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48914" y="441198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4" name="Text 22"/>
          <p:cNvSpPr/>
          <p:nvPr/>
        </p:nvSpPr>
        <p:spPr>
          <a:xfrm>
            <a:off x="7037070" y="4278630"/>
            <a:ext cx="464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Madaniyat va ilm uyg'unligi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37070" y="4697611"/>
            <a:ext cx="4610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Madaniyat va ilm bir-biri bilan chambarchas bog'liq. Ilmiy taraqqiyot madaniyatning rivojlanishiga, madaniyat esa ilm-fanning yuksalishiga xizmat qiladi.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569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AE8E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TARIXIY RIVOJLANISH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5848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Ilm-fanning rivojlanishi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375410"/>
            <a:ext cx="6170295" cy="1969770"/>
          </a:xfrm>
          <a:custGeom>
            <a:avLst/>
            <a:gdLst/>
            <a:ahLst/>
            <a:cxnLst/>
            <a:rect l="l" t="t" r="r" b="b"/>
            <a:pathLst>
              <a:path w="6170295" h="1969770">
                <a:moveTo>
                  <a:pt x="114306" y="0"/>
                </a:moveTo>
                <a:lnTo>
                  <a:pt x="6055989" y="0"/>
                </a:lnTo>
                <a:cubicBezTo>
                  <a:pt x="6119119" y="0"/>
                  <a:pt x="6170295" y="51176"/>
                  <a:pt x="6170295" y="114306"/>
                </a:cubicBezTo>
                <a:lnTo>
                  <a:pt x="6170295" y="1855464"/>
                </a:lnTo>
                <a:cubicBezTo>
                  <a:pt x="6170295" y="1918594"/>
                  <a:pt x="6119119" y="1969770"/>
                  <a:pt x="6055989" y="1969770"/>
                </a:cubicBezTo>
                <a:lnTo>
                  <a:pt x="114306" y="1969770"/>
                </a:lnTo>
                <a:cubicBezTo>
                  <a:pt x="51176" y="1969770"/>
                  <a:pt x="0" y="1918594"/>
                  <a:pt x="0" y="185546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AE8E6B">
                  <a:alpha val="30000"/>
                </a:srgbClr>
              </a:gs>
              <a:gs pos="100000">
                <a:srgbClr val="AE8E6B">
                  <a:alpha val="10000"/>
                </a:srgbClr>
              </a:gs>
            </a:gsLst>
            <a:lin ang="2700000" scaled="1"/>
          </a:gradFill>
          <a:ln w="10160">
            <a:solidFill>
              <a:srgbClr val="AE8E6B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6459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E8E6B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5333" y="179832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1303020" y="1607820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Islom oltin davri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3020" y="1950720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C9A8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8-13 asrlar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" y="2369820"/>
            <a:ext cx="57816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 davr Islom sivilizatsiyasining ilm-fan sohasida eng yuqori cho'qqiga chiqgan davri hisoblanadi. Matematika, astronomiya, tibbiyot, kimyo va boshqa ko'plab fanlar hozirgi darajada rivojlandi.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3783330"/>
            <a:ext cx="1950720" cy="2388870"/>
          </a:xfrm>
          <a:custGeom>
            <a:avLst/>
            <a:gdLst/>
            <a:ahLst/>
            <a:cxnLst/>
            <a:rect l="l" t="t" r="r" b="b"/>
            <a:pathLst>
              <a:path w="1950720" h="2388870">
                <a:moveTo>
                  <a:pt x="114293" y="0"/>
                </a:moveTo>
                <a:lnTo>
                  <a:pt x="1836427" y="0"/>
                </a:lnTo>
                <a:cubicBezTo>
                  <a:pt x="1899549" y="0"/>
                  <a:pt x="1950720" y="51171"/>
                  <a:pt x="1950720" y="114293"/>
                </a:cubicBezTo>
                <a:lnTo>
                  <a:pt x="1950720" y="2274577"/>
                </a:lnTo>
                <a:cubicBezTo>
                  <a:pt x="1950720" y="2337699"/>
                  <a:pt x="1899549" y="2388870"/>
                  <a:pt x="1836427" y="2388870"/>
                </a:cubicBezTo>
                <a:lnTo>
                  <a:pt x="114293" y="2388870"/>
                </a:lnTo>
                <a:cubicBezTo>
                  <a:pt x="51171" y="2388870"/>
                  <a:pt x="0" y="2337699"/>
                  <a:pt x="0" y="22745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9120" y="39776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00564" y="411099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3" y="0"/>
                </a:moveTo>
                <a:cubicBezTo>
                  <a:pt x="105928" y="0"/>
                  <a:pt x="95250" y="10678"/>
                  <a:pt x="95250" y="23812"/>
                </a:cubicBezTo>
                <a:lnTo>
                  <a:pt x="95250" y="35719"/>
                </a:lnTo>
                <a:lnTo>
                  <a:pt x="77391" y="35719"/>
                </a:lnTo>
                <a:lnTo>
                  <a:pt x="77391" y="8930"/>
                </a:lnTo>
                <a:cubicBezTo>
                  <a:pt x="77391" y="3981"/>
                  <a:pt x="73409" y="0"/>
                  <a:pt x="68461" y="0"/>
                </a:cubicBezTo>
                <a:cubicBezTo>
                  <a:pt x="63512" y="0"/>
                  <a:pt x="59531" y="3981"/>
                  <a:pt x="59531" y="8930"/>
                </a:cubicBezTo>
                <a:lnTo>
                  <a:pt x="59531" y="35719"/>
                </a:lnTo>
                <a:lnTo>
                  <a:pt x="35719" y="35719"/>
                </a:lnTo>
                <a:lnTo>
                  <a:pt x="35719" y="8930"/>
                </a:lnTo>
                <a:cubicBezTo>
                  <a:pt x="35719" y="3981"/>
                  <a:pt x="31738" y="0"/>
                  <a:pt x="26789" y="0"/>
                </a:cubicBezTo>
                <a:cubicBezTo>
                  <a:pt x="21841" y="0"/>
                  <a:pt x="17859" y="3981"/>
                  <a:pt x="17859" y="8930"/>
                </a:cubicBezTo>
                <a:lnTo>
                  <a:pt x="17859" y="36463"/>
                </a:lnTo>
                <a:cubicBezTo>
                  <a:pt x="7590" y="39105"/>
                  <a:pt x="0" y="48444"/>
                  <a:pt x="0" y="59531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90500" y="190500"/>
                </a:lnTo>
                <a:cubicBezTo>
                  <a:pt x="203634" y="190500"/>
                  <a:pt x="214313" y="179822"/>
                  <a:pt x="214313" y="166688"/>
                </a:cubicBezTo>
                <a:lnTo>
                  <a:pt x="214313" y="95250"/>
                </a:lnTo>
                <a:cubicBezTo>
                  <a:pt x="214313" y="82116"/>
                  <a:pt x="203634" y="71438"/>
                  <a:pt x="190500" y="71438"/>
                </a:cubicBezTo>
                <a:lnTo>
                  <a:pt x="166688" y="71438"/>
                </a:lnTo>
                <a:lnTo>
                  <a:pt x="166688" y="23812"/>
                </a:lnTo>
                <a:cubicBezTo>
                  <a:pt x="166688" y="10678"/>
                  <a:pt x="156009" y="0"/>
                  <a:pt x="142875" y="0"/>
                </a:cubicBezTo>
                <a:lnTo>
                  <a:pt x="119063" y="0"/>
                </a:lnTo>
                <a:close/>
                <a:moveTo>
                  <a:pt x="142875" y="41672"/>
                </a:moveTo>
                <a:lnTo>
                  <a:pt x="142875" y="53578"/>
                </a:lnTo>
                <a:cubicBezTo>
                  <a:pt x="142875" y="56852"/>
                  <a:pt x="140196" y="59531"/>
                  <a:pt x="136922" y="59531"/>
                </a:cubicBezTo>
                <a:lnTo>
                  <a:pt x="125016" y="59531"/>
                </a:lnTo>
                <a:cubicBezTo>
                  <a:pt x="121741" y="59531"/>
                  <a:pt x="119063" y="56852"/>
                  <a:pt x="119063" y="53578"/>
                </a:cubicBezTo>
                <a:lnTo>
                  <a:pt x="119063" y="41672"/>
                </a:lnTo>
                <a:cubicBezTo>
                  <a:pt x="119063" y="38398"/>
                  <a:pt x="121741" y="35719"/>
                  <a:pt x="125016" y="35719"/>
                </a:cubicBezTo>
                <a:lnTo>
                  <a:pt x="136922" y="35719"/>
                </a:lnTo>
                <a:cubicBezTo>
                  <a:pt x="140196" y="35719"/>
                  <a:pt x="142875" y="38398"/>
                  <a:pt x="142875" y="41672"/>
                </a:cubicBezTo>
                <a:close/>
                <a:moveTo>
                  <a:pt x="136922" y="71438"/>
                </a:moveTo>
                <a:cubicBezTo>
                  <a:pt x="140196" y="71438"/>
                  <a:pt x="142875" y="74116"/>
                  <a:pt x="142875" y="77391"/>
                </a:cubicBezTo>
                <a:lnTo>
                  <a:pt x="142875" y="89297"/>
                </a:lnTo>
                <a:cubicBezTo>
                  <a:pt x="142875" y="92571"/>
                  <a:pt x="140196" y="95250"/>
                  <a:pt x="136922" y="95250"/>
                </a:cubicBezTo>
                <a:lnTo>
                  <a:pt x="125016" y="95250"/>
                </a:lnTo>
                <a:cubicBezTo>
                  <a:pt x="121741" y="95250"/>
                  <a:pt x="119063" y="92571"/>
                  <a:pt x="119063" y="89297"/>
                </a:cubicBezTo>
                <a:lnTo>
                  <a:pt x="119063" y="77391"/>
                </a:lnTo>
                <a:cubicBezTo>
                  <a:pt x="119063" y="74116"/>
                  <a:pt x="121741" y="71438"/>
                  <a:pt x="125016" y="71438"/>
                </a:cubicBezTo>
                <a:lnTo>
                  <a:pt x="136922" y="71438"/>
                </a:lnTo>
                <a:close/>
                <a:moveTo>
                  <a:pt x="142875" y="113109"/>
                </a:moveTo>
                <a:lnTo>
                  <a:pt x="142875" y="125016"/>
                </a:lnTo>
                <a:cubicBezTo>
                  <a:pt x="142875" y="128290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28290"/>
                  <a:pt x="119063" y="125016"/>
                </a:cubicBezTo>
                <a:lnTo>
                  <a:pt x="119063" y="113109"/>
                </a:lnTo>
                <a:cubicBezTo>
                  <a:pt x="119063" y="109835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9835"/>
                  <a:pt x="142875" y="113109"/>
                </a:cubicBezTo>
                <a:close/>
                <a:moveTo>
                  <a:pt x="184547" y="107156"/>
                </a:moveTo>
                <a:cubicBezTo>
                  <a:pt x="187821" y="107156"/>
                  <a:pt x="190500" y="109835"/>
                  <a:pt x="190500" y="113109"/>
                </a:cubicBezTo>
                <a:lnTo>
                  <a:pt x="190500" y="125016"/>
                </a:lnTo>
                <a:cubicBezTo>
                  <a:pt x="190500" y="128290"/>
                  <a:pt x="187821" y="130969"/>
                  <a:pt x="184547" y="130969"/>
                </a:cubicBezTo>
                <a:lnTo>
                  <a:pt x="172641" y="130969"/>
                </a:lnTo>
                <a:cubicBezTo>
                  <a:pt x="169366" y="130969"/>
                  <a:pt x="166688" y="128290"/>
                  <a:pt x="166688" y="125016"/>
                </a:cubicBezTo>
                <a:lnTo>
                  <a:pt x="166688" y="113109"/>
                </a:lnTo>
                <a:cubicBezTo>
                  <a:pt x="166688" y="109835"/>
                  <a:pt x="169366" y="107156"/>
                  <a:pt x="172641" y="107156"/>
                </a:cubicBezTo>
                <a:lnTo>
                  <a:pt x="184547" y="107156"/>
                </a:lnTo>
                <a:close/>
                <a:moveTo>
                  <a:pt x="95250" y="113109"/>
                </a:moveTo>
                <a:lnTo>
                  <a:pt x="95250" y="125016"/>
                </a:lnTo>
                <a:cubicBezTo>
                  <a:pt x="95250" y="128290"/>
                  <a:pt x="92571" y="130969"/>
                  <a:pt x="89297" y="130969"/>
                </a:cubicBezTo>
                <a:lnTo>
                  <a:pt x="77391" y="130969"/>
                </a:lnTo>
                <a:cubicBezTo>
                  <a:pt x="74116" y="130969"/>
                  <a:pt x="71438" y="128290"/>
                  <a:pt x="71438" y="125016"/>
                </a:cubicBezTo>
                <a:lnTo>
                  <a:pt x="71438" y="113109"/>
                </a:lnTo>
                <a:cubicBezTo>
                  <a:pt x="71438" y="109835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9835"/>
                  <a:pt x="95250" y="113109"/>
                </a:cubicBezTo>
                <a:close/>
                <a:moveTo>
                  <a:pt x="89297" y="71438"/>
                </a:moveTo>
                <a:cubicBezTo>
                  <a:pt x="92571" y="71438"/>
                  <a:pt x="95250" y="74116"/>
                  <a:pt x="95250" y="77391"/>
                </a:cubicBezTo>
                <a:lnTo>
                  <a:pt x="95250" y="89297"/>
                </a:lnTo>
                <a:cubicBezTo>
                  <a:pt x="95250" y="92571"/>
                  <a:pt x="92571" y="95250"/>
                  <a:pt x="89297" y="95250"/>
                </a:cubicBezTo>
                <a:lnTo>
                  <a:pt x="77391" y="95250"/>
                </a:lnTo>
                <a:cubicBezTo>
                  <a:pt x="74116" y="95250"/>
                  <a:pt x="71438" y="92571"/>
                  <a:pt x="71438" y="89297"/>
                </a:cubicBezTo>
                <a:lnTo>
                  <a:pt x="71438" y="77391"/>
                </a:lnTo>
                <a:cubicBezTo>
                  <a:pt x="71438" y="74116"/>
                  <a:pt x="74116" y="71438"/>
                  <a:pt x="77391" y="71438"/>
                </a:cubicBezTo>
                <a:lnTo>
                  <a:pt x="89297" y="71438"/>
                </a:lnTo>
                <a:close/>
                <a:moveTo>
                  <a:pt x="47625" y="113109"/>
                </a:moveTo>
                <a:lnTo>
                  <a:pt x="47625" y="125016"/>
                </a:lnTo>
                <a:cubicBezTo>
                  <a:pt x="47625" y="128290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28290"/>
                  <a:pt x="23812" y="125016"/>
                </a:cubicBezTo>
                <a:lnTo>
                  <a:pt x="23812" y="113109"/>
                </a:lnTo>
                <a:cubicBezTo>
                  <a:pt x="23812" y="109835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9835"/>
                  <a:pt x="47625" y="113109"/>
                </a:cubicBezTo>
                <a:close/>
                <a:moveTo>
                  <a:pt x="41672" y="71438"/>
                </a:moveTo>
                <a:cubicBezTo>
                  <a:pt x="44946" y="71438"/>
                  <a:pt x="47625" y="74116"/>
                  <a:pt x="47625" y="77391"/>
                </a:cubicBezTo>
                <a:lnTo>
                  <a:pt x="47625" y="89297"/>
                </a:lnTo>
                <a:cubicBezTo>
                  <a:pt x="47625" y="92571"/>
                  <a:pt x="44946" y="95250"/>
                  <a:pt x="41672" y="95250"/>
                </a:cubicBezTo>
                <a:lnTo>
                  <a:pt x="29766" y="95250"/>
                </a:lnTo>
                <a:cubicBezTo>
                  <a:pt x="26491" y="95250"/>
                  <a:pt x="23812" y="92571"/>
                  <a:pt x="23812" y="89297"/>
                </a:cubicBezTo>
                <a:lnTo>
                  <a:pt x="23812" y="77391"/>
                </a:lnTo>
                <a:cubicBezTo>
                  <a:pt x="23812" y="74116"/>
                  <a:pt x="26491" y="71438"/>
                  <a:pt x="29766" y="71438"/>
                </a:cubicBezTo>
                <a:lnTo>
                  <a:pt x="41672" y="71438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5" name="Text 13"/>
          <p:cNvSpPr/>
          <p:nvPr/>
        </p:nvSpPr>
        <p:spPr>
          <a:xfrm>
            <a:off x="579120" y="454914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Bag'dod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120" y="4892040"/>
            <a:ext cx="16383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Hikmat uyi (Bayt al-Hikma) markaziy kutubxona va ilmiy tadqiqot markazi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96145" y="3783330"/>
            <a:ext cx="1950720" cy="2388870"/>
          </a:xfrm>
          <a:custGeom>
            <a:avLst/>
            <a:gdLst/>
            <a:ahLst/>
            <a:cxnLst/>
            <a:rect l="l" t="t" r="r" b="b"/>
            <a:pathLst>
              <a:path w="1950720" h="2388870">
                <a:moveTo>
                  <a:pt x="114293" y="0"/>
                </a:moveTo>
                <a:lnTo>
                  <a:pt x="1836427" y="0"/>
                </a:lnTo>
                <a:cubicBezTo>
                  <a:pt x="1899549" y="0"/>
                  <a:pt x="1950720" y="51171"/>
                  <a:pt x="1950720" y="114293"/>
                </a:cubicBezTo>
                <a:lnTo>
                  <a:pt x="1950720" y="2274577"/>
                </a:lnTo>
                <a:cubicBezTo>
                  <a:pt x="1950720" y="2337699"/>
                  <a:pt x="1899549" y="2388870"/>
                  <a:pt x="1836427" y="2388870"/>
                </a:cubicBezTo>
                <a:lnTo>
                  <a:pt x="114293" y="2388870"/>
                </a:lnTo>
                <a:cubicBezTo>
                  <a:pt x="51171" y="2388870"/>
                  <a:pt x="0" y="2337699"/>
                  <a:pt x="0" y="22745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0455" y="39776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823805" y="411099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0" name="Text 18"/>
          <p:cNvSpPr/>
          <p:nvPr/>
        </p:nvSpPr>
        <p:spPr>
          <a:xfrm>
            <a:off x="2690455" y="454914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Samarqand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90455" y="4892040"/>
            <a:ext cx="16383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Ulug'bek rasadxonasi va astronomiya markazi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07481" y="3783330"/>
            <a:ext cx="1950720" cy="2388870"/>
          </a:xfrm>
          <a:custGeom>
            <a:avLst/>
            <a:gdLst/>
            <a:ahLst/>
            <a:cxnLst/>
            <a:rect l="l" t="t" r="r" b="b"/>
            <a:pathLst>
              <a:path w="1950720" h="2388870">
                <a:moveTo>
                  <a:pt x="114293" y="0"/>
                </a:moveTo>
                <a:lnTo>
                  <a:pt x="1836427" y="0"/>
                </a:lnTo>
                <a:cubicBezTo>
                  <a:pt x="1899549" y="0"/>
                  <a:pt x="1950720" y="51171"/>
                  <a:pt x="1950720" y="114293"/>
                </a:cubicBezTo>
                <a:lnTo>
                  <a:pt x="1950720" y="2274577"/>
                </a:lnTo>
                <a:cubicBezTo>
                  <a:pt x="1950720" y="2337699"/>
                  <a:pt x="1899549" y="2388870"/>
                  <a:pt x="1836427" y="2388870"/>
                </a:cubicBezTo>
                <a:lnTo>
                  <a:pt x="114293" y="2388870"/>
                </a:lnTo>
                <a:cubicBezTo>
                  <a:pt x="51171" y="2388870"/>
                  <a:pt x="0" y="2337699"/>
                  <a:pt x="0" y="22745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1791" y="39776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935141" y="411099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5" name="Text 23"/>
          <p:cNvSpPr/>
          <p:nvPr/>
        </p:nvSpPr>
        <p:spPr>
          <a:xfrm>
            <a:off x="4801791" y="454914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Buxoro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1791" y="4892040"/>
            <a:ext cx="16383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Ko'plab madrasalar va ilmiy markazlar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57035" y="1375410"/>
            <a:ext cx="5046345" cy="2636520"/>
          </a:xfrm>
          <a:custGeom>
            <a:avLst/>
            <a:gdLst/>
            <a:ahLst/>
            <a:cxnLst/>
            <a:rect l="l" t="t" r="r" b="b"/>
            <a:pathLst>
              <a:path w="5046345" h="2636520">
                <a:moveTo>
                  <a:pt x="114293" y="0"/>
                </a:moveTo>
                <a:lnTo>
                  <a:pt x="4932052" y="0"/>
                </a:lnTo>
                <a:cubicBezTo>
                  <a:pt x="4995132" y="0"/>
                  <a:pt x="5046345" y="51213"/>
                  <a:pt x="5046345" y="114293"/>
                </a:cubicBezTo>
                <a:lnTo>
                  <a:pt x="5046345" y="2522227"/>
                </a:lnTo>
                <a:cubicBezTo>
                  <a:pt x="5046345" y="2585307"/>
                  <a:pt x="4995132" y="2636520"/>
                  <a:pt x="4932052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AE8E6B">
                <a:alpha val="40000"/>
              </a:srgbClr>
            </a:solidFill>
            <a:prstDash val="solid"/>
          </a:ln>
        </p:spPr>
      </p:sp>
      <p:pic>
        <p:nvPicPr>
          <p:cNvPr id="28" name="Image 0" descr="https://kimi-web-img.moonshot.cn/img/www.1001inventions.com/c949316eaa52e4078ef774bf7168ff1d5e9d871c.jpg"/>
          <p:cNvPicPr>
            <a:picLocks noChangeAspect="1"/>
          </p:cNvPicPr>
          <p:nvPr/>
        </p:nvPicPr>
        <p:blipFill>
          <a:blip r:embed="rId3"/>
          <a:srcRect l="19" r="19"/>
          <a:stretch/>
        </p:blipFill>
        <p:spPr>
          <a:xfrm>
            <a:off x="6760845" y="1379220"/>
            <a:ext cx="5038725" cy="2628900"/>
          </a:xfrm>
          <a:prstGeom prst="roundRect">
            <a:avLst>
              <a:gd name="adj" fmla="val 4348"/>
            </a:avLst>
          </a:prstGeom>
        </p:spPr>
      </p:pic>
      <p:sp>
        <p:nvSpPr>
          <p:cNvPr id="29" name="Shape 26"/>
          <p:cNvSpPr/>
          <p:nvPr/>
        </p:nvSpPr>
        <p:spPr>
          <a:xfrm>
            <a:off x="6757035" y="4172903"/>
            <a:ext cx="5046345" cy="1722120"/>
          </a:xfrm>
          <a:custGeom>
            <a:avLst/>
            <a:gdLst/>
            <a:ahLst/>
            <a:cxnLst/>
            <a:rect l="l" t="t" r="r" b="b"/>
            <a:pathLst>
              <a:path w="5046345" h="1722120">
                <a:moveTo>
                  <a:pt x="114297" y="0"/>
                </a:moveTo>
                <a:lnTo>
                  <a:pt x="4932048" y="0"/>
                </a:lnTo>
                <a:cubicBezTo>
                  <a:pt x="4995172" y="0"/>
                  <a:pt x="5046345" y="51173"/>
                  <a:pt x="5046345" y="114297"/>
                </a:cubicBezTo>
                <a:lnTo>
                  <a:pt x="5046345" y="1607823"/>
                </a:lnTo>
                <a:cubicBezTo>
                  <a:pt x="5046345" y="1670947"/>
                  <a:pt x="4995172" y="1722120"/>
                  <a:pt x="4932048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87064" y="44053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1" name="Text 28"/>
          <p:cNvSpPr/>
          <p:nvPr/>
        </p:nvSpPr>
        <p:spPr>
          <a:xfrm>
            <a:off x="7189470" y="4367213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Rivojlangan fan sohalari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951345" y="48625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3" name="Text 30"/>
          <p:cNvSpPr/>
          <p:nvPr/>
        </p:nvSpPr>
        <p:spPr>
          <a:xfrm>
            <a:off x="7103745" y="4786313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Matematika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339263" y="48625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5" name="Text 32"/>
          <p:cNvSpPr/>
          <p:nvPr/>
        </p:nvSpPr>
        <p:spPr>
          <a:xfrm>
            <a:off x="9491663" y="4786313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Tibbiyot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951345" y="5205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7" name="Text 34"/>
          <p:cNvSpPr/>
          <p:nvPr/>
        </p:nvSpPr>
        <p:spPr>
          <a:xfrm>
            <a:off x="7103745" y="5129213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Astronomiya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339263" y="5205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9" name="Text 36"/>
          <p:cNvSpPr/>
          <p:nvPr/>
        </p:nvSpPr>
        <p:spPr>
          <a:xfrm>
            <a:off x="9491663" y="5129213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Kimyo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951345" y="55483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41" name="Text 38"/>
          <p:cNvSpPr/>
          <p:nvPr/>
        </p:nvSpPr>
        <p:spPr>
          <a:xfrm>
            <a:off x="7103745" y="5472113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Fizika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339263" y="55483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43" name="Text 40"/>
          <p:cNvSpPr/>
          <p:nvPr/>
        </p:nvSpPr>
        <p:spPr>
          <a:xfrm>
            <a:off x="9491663" y="5472113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Geografiya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AE8E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TANIQLI SHAXSLAR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Buyuk olimlar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375410"/>
            <a:ext cx="5608320" cy="2446020"/>
          </a:xfrm>
          <a:custGeom>
            <a:avLst/>
            <a:gdLst/>
            <a:ahLst/>
            <a:cxnLst/>
            <a:rect l="l" t="t" r="r" b="b"/>
            <a:pathLst>
              <a:path w="5608320" h="2446020">
                <a:moveTo>
                  <a:pt x="114303" y="0"/>
                </a:moveTo>
                <a:lnTo>
                  <a:pt x="5494017" y="0"/>
                </a:lnTo>
                <a:cubicBezTo>
                  <a:pt x="5557145" y="0"/>
                  <a:pt x="5608320" y="51175"/>
                  <a:pt x="5608320" y="114303"/>
                </a:cubicBezTo>
                <a:lnTo>
                  <a:pt x="5608320" y="2331717"/>
                </a:lnTo>
                <a:cubicBezTo>
                  <a:pt x="5608320" y="2394845"/>
                  <a:pt x="5557145" y="2446020"/>
                  <a:pt x="549401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40" y="1615440"/>
            <a:ext cx="901065" cy="1053465"/>
          </a:xfrm>
          <a:custGeom>
            <a:avLst/>
            <a:gdLst/>
            <a:ahLst/>
            <a:cxnLst/>
            <a:rect l="l" t="t" r="r" b="b"/>
            <a:pathLst>
              <a:path w="901065" h="1053465">
                <a:moveTo>
                  <a:pt x="76203" y="0"/>
                </a:moveTo>
                <a:lnTo>
                  <a:pt x="824862" y="0"/>
                </a:lnTo>
                <a:cubicBezTo>
                  <a:pt x="866948" y="0"/>
                  <a:pt x="901065" y="34117"/>
                  <a:pt x="901065" y="76203"/>
                </a:cubicBezTo>
                <a:lnTo>
                  <a:pt x="901065" y="977262"/>
                </a:lnTo>
                <a:cubicBezTo>
                  <a:pt x="901065" y="1019348"/>
                  <a:pt x="866948" y="1053465"/>
                  <a:pt x="824862" y="1053465"/>
                </a:cubicBezTo>
                <a:lnTo>
                  <a:pt x="76203" y="1053465"/>
                </a:lnTo>
                <a:cubicBezTo>
                  <a:pt x="34117" y="1053465"/>
                  <a:pt x="0" y="1019348"/>
                  <a:pt x="0" y="97726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AE8E6B">
                <a:alpha val="50196"/>
              </a:srgbClr>
            </a:solidFill>
            <a:prstDash val="solid"/>
          </a:ln>
        </p:spPr>
      </p:sp>
      <p:pic>
        <p:nvPicPr>
          <p:cNvPr id="8" name="Image 0" descr="https://kimi-web-img.moonshot.cn/img/uwaterloo.ca/715470373352a5a218b4309f4d3a3ad9e5ad548e.jpeg"/>
          <p:cNvPicPr>
            <a:picLocks noChangeAspect="1"/>
          </p:cNvPicPr>
          <p:nvPr/>
        </p:nvPicPr>
        <p:blipFill>
          <a:blip r:embed="rId3"/>
          <a:srcRect t="9420" b="9420"/>
          <a:stretch/>
        </p:blipFill>
        <p:spPr>
          <a:xfrm>
            <a:off x="632460" y="1623061"/>
            <a:ext cx="885825" cy="1038225"/>
          </a:xfrm>
          <a:prstGeom prst="roundRect">
            <a:avLst>
              <a:gd name="adj" fmla="val 8602"/>
            </a:avLst>
          </a:prstGeom>
        </p:spPr>
      </p:pic>
      <p:sp>
        <p:nvSpPr>
          <p:cNvPr id="9" name="Text 6"/>
          <p:cNvSpPr/>
          <p:nvPr/>
        </p:nvSpPr>
        <p:spPr>
          <a:xfrm>
            <a:off x="1722120" y="1607820"/>
            <a:ext cx="415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Muhammad al-Xorazmiy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22120" y="198870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780-850 yillar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22120" y="2293502"/>
            <a:ext cx="1304925" cy="304800"/>
          </a:xfrm>
          <a:custGeom>
            <a:avLst/>
            <a:gdLst/>
            <a:ahLst/>
            <a:cxnLst/>
            <a:rect l="l" t="t" r="r" b="b"/>
            <a:pathLst>
              <a:path w="1304925" h="304800">
                <a:moveTo>
                  <a:pt x="152400" y="0"/>
                </a:moveTo>
                <a:lnTo>
                  <a:pt x="1152525" y="0"/>
                </a:lnTo>
                <a:cubicBezTo>
                  <a:pt x="1236637" y="0"/>
                  <a:pt x="1304925" y="68288"/>
                  <a:pt x="1304925" y="152400"/>
                </a:cubicBezTo>
                <a:lnTo>
                  <a:pt x="1304925" y="152400"/>
                </a:lnTo>
                <a:cubicBezTo>
                  <a:pt x="1304925" y="236512"/>
                  <a:pt x="1236637" y="304800"/>
                  <a:pt x="11525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836420" y="2354461"/>
            <a:ext cx="1152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Algebra asoschisi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7220" y="2827020"/>
            <a:ext cx="521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Algebra fanining asoschisi, algoritm tushunchasini kiritgan. "Algebra" so'zi uning "Al-Jabr" asaridan kelib chiqqan. Sonlarning o'nlik tizimini rivojlantirdi va zamonaviy matematikanasining asoschilaridan biri.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95060" y="1375410"/>
            <a:ext cx="5608320" cy="2446020"/>
          </a:xfrm>
          <a:custGeom>
            <a:avLst/>
            <a:gdLst/>
            <a:ahLst/>
            <a:cxnLst/>
            <a:rect l="l" t="t" r="r" b="b"/>
            <a:pathLst>
              <a:path w="5608320" h="2446020">
                <a:moveTo>
                  <a:pt x="114303" y="0"/>
                </a:moveTo>
                <a:lnTo>
                  <a:pt x="5494017" y="0"/>
                </a:lnTo>
                <a:cubicBezTo>
                  <a:pt x="5557145" y="0"/>
                  <a:pt x="5608320" y="51175"/>
                  <a:pt x="5608320" y="114303"/>
                </a:cubicBezTo>
                <a:lnTo>
                  <a:pt x="5608320" y="2331717"/>
                </a:lnTo>
                <a:cubicBezTo>
                  <a:pt x="5608320" y="2394845"/>
                  <a:pt x="5557145" y="2446020"/>
                  <a:pt x="549401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5090" y="1615440"/>
            <a:ext cx="901065" cy="1053465"/>
          </a:xfrm>
          <a:custGeom>
            <a:avLst/>
            <a:gdLst/>
            <a:ahLst/>
            <a:cxnLst/>
            <a:rect l="l" t="t" r="r" b="b"/>
            <a:pathLst>
              <a:path w="901065" h="1053465">
                <a:moveTo>
                  <a:pt x="76203" y="0"/>
                </a:moveTo>
                <a:lnTo>
                  <a:pt x="824862" y="0"/>
                </a:lnTo>
                <a:cubicBezTo>
                  <a:pt x="866948" y="0"/>
                  <a:pt x="901065" y="34117"/>
                  <a:pt x="901065" y="76203"/>
                </a:cubicBezTo>
                <a:lnTo>
                  <a:pt x="901065" y="977262"/>
                </a:lnTo>
                <a:cubicBezTo>
                  <a:pt x="901065" y="1019348"/>
                  <a:pt x="866948" y="1053465"/>
                  <a:pt x="824862" y="1053465"/>
                </a:cubicBezTo>
                <a:lnTo>
                  <a:pt x="76203" y="1053465"/>
                </a:lnTo>
                <a:cubicBezTo>
                  <a:pt x="34117" y="1053465"/>
                  <a:pt x="0" y="1019348"/>
                  <a:pt x="0" y="97726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AE8E6B">
                <a:alpha val="50196"/>
              </a:srgbClr>
            </a:solidFill>
            <a:prstDash val="solid"/>
          </a:ln>
        </p:spPr>
      </p:sp>
      <p:pic>
        <p:nvPicPr>
          <p:cNvPr id="16" name="Image 1" descr="https://kimi-web-img.moonshot.cn/img/miro.medium.com/e51377f586669781571a25e09a24c806db2fdcb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710" y="1623061"/>
            <a:ext cx="885825" cy="1038225"/>
          </a:xfrm>
          <a:prstGeom prst="roundRect">
            <a:avLst>
              <a:gd name="adj" fmla="val 8602"/>
            </a:avLst>
          </a:prstGeom>
        </p:spPr>
      </p:pic>
      <p:sp>
        <p:nvSpPr>
          <p:cNvPr id="17" name="Text 13"/>
          <p:cNvSpPr/>
          <p:nvPr/>
        </p:nvSpPr>
        <p:spPr>
          <a:xfrm>
            <a:off x="7532370" y="1607820"/>
            <a:ext cx="415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Abu Ali ibn Sino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532370" y="198870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980-1037 yillar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532370" y="2293502"/>
            <a:ext cx="1152525" cy="304800"/>
          </a:xfrm>
          <a:custGeom>
            <a:avLst/>
            <a:gdLst/>
            <a:ahLst/>
            <a:cxnLst/>
            <a:rect l="l" t="t" r="r" b="b"/>
            <a:pathLst>
              <a:path w="1152525" h="304800">
                <a:moveTo>
                  <a:pt x="152400" y="0"/>
                </a:moveTo>
                <a:lnTo>
                  <a:pt x="1000125" y="0"/>
                </a:lnTo>
                <a:cubicBezTo>
                  <a:pt x="1084237" y="0"/>
                  <a:pt x="1152525" y="68288"/>
                  <a:pt x="1152525" y="152400"/>
                </a:cubicBezTo>
                <a:lnTo>
                  <a:pt x="1152525" y="152400"/>
                </a:lnTo>
                <a:cubicBezTo>
                  <a:pt x="1152525" y="236512"/>
                  <a:pt x="1084237" y="304800"/>
                  <a:pt x="10001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7646670" y="2354461"/>
            <a:ext cx="10039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Tibbiyot olami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27470" y="2827020"/>
            <a:ext cx="521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"Tibbiyot kanoni" asari orqali tibbiyot faniga ulkan hissa qo'shgan. Uning asarlari Yevropada 600 yil davomida tibbiyot darsligi sifatida o'qitilgan. 450 dan ortiq asar yozgan.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84810" y="4023360"/>
            <a:ext cx="5608320" cy="2446020"/>
          </a:xfrm>
          <a:custGeom>
            <a:avLst/>
            <a:gdLst/>
            <a:ahLst/>
            <a:cxnLst/>
            <a:rect l="l" t="t" r="r" b="b"/>
            <a:pathLst>
              <a:path w="5608320" h="2446020">
                <a:moveTo>
                  <a:pt x="114303" y="0"/>
                </a:moveTo>
                <a:lnTo>
                  <a:pt x="5494017" y="0"/>
                </a:lnTo>
                <a:cubicBezTo>
                  <a:pt x="5557145" y="0"/>
                  <a:pt x="5608320" y="51175"/>
                  <a:pt x="5608320" y="114303"/>
                </a:cubicBezTo>
                <a:lnTo>
                  <a:pt x="5608320" y="2331717"/>
                </a:lnTo>
                <a:cubicBezTo>
                  <a:pt x="5608320" y="2394845"/>
                  <a:pt x="5557145" y="2446020"/>
                  <a:pt x="549401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840" y="4263390"/>
            <a:ext cx="901065" cy="1053465"/>
          </a:xfrm>
          <a:custGeom>
            <a:avLst/>
            <a:gdLst/>
            <a:ahLst/>
            <a:cxnLst/>
            <a:rect l="l" t="t" r="r" b="b"/>
            <a:pathLst>
              <a:path w="901065" h="1053465">
                <a:moveTo>
                  <a:pt x="76203" y="0"/>
                </a:moveTo>
                <a:lnTo>
                  <a:pt x="824862" y="0"/>
                </a:lnTo>
                <a:cubicBezTo>
                  <a:pt x="866948" y="0"/>
                  <a:pt x="901065" y="34117"/>
                  <a:pt x="901065" y="76203"/>
                </a:cubicBezTo>
                <a:lnTo>
                  <a:pt x="901065" y="977262"/>
                </a:lnTo>
                <a:cubicBezTo>
                  <a:pt x="901065" y="1019348"/>
                  <a:pt x="866948" y="1053465"/>
                  <a:pt x="824862" y="1053465"/>
                </a:cubicBezTo>
                <a:lnTo>
                  <a:pt x="76203" y="1053465"/>
                </a:lnTo>
                <a:cubicBezTo>
                  <a:pt x="34117" y="1053465"/>
                  <a:pt x="0" y="1019348"/>
                  <a:pt x="0" y="97726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AE8E6B">
              <a:alpha val="20000"/>
            </a:srgbClr>
          </a:solidFill>
          <a:ln w="20320">
            <a:solidFill>
              <a:srgbClr val="AE8E6B">
                <a:alpha val="50196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81539" y="461772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07280" y="-12658"/>
                </a:moveTo>
                <a:cubicBezTo>
                  <a:pt x="204534" y="-18016"/>
                  <a:pt x="198976" y="-21431"/>
                  <a:pt x="192948" y="-21431"/>
                </a:cubicBezTo>
                <a:cubicBezTo>
                  <a:pt x="186921" y="-21431"/>
                  <a:pt x="181362" y="-18016"/>
                  <a:pt x="178616" y="-12658"/>
                </a:cubicBezTo>
                <a:lnTo>
                  <a:pt x="129324" y="83917"/>
                </a:lnTo>
                <a:lnTo>
                  <a:pt x="22235" y="100928"/>
                </a:lnTo>
                <a:cubicBezTo>
                  <a:pt x="16274" y="101865"/>
                  <a:pt x="11318" y="106085"/>
                  <a:pt x="9443" y="111844"/>
                </a:cubicBezTo>
                <a:cubicBezTo>
                  <a:pt x="7568" y="117604"/>
                  <a:pt x="9108" y="123899"/>
                  <a:pt x="13328" y="128186"/>
                </a:cubicBezTo>
                <a:lnTo>
                  <a:pt x="89944" y="204869"/>
                </a:lnTo>
                <a:lnTo>
                  <a:pt x="73067" y="311959"/>
                </a:lnTo>
                <a:cubicBezTo>
                  <a:pt x="72130" y="317919"/>
                  <a:pt x="74608" y="323947"/>
                  <a:pt x="79497" y="327496"/>
                </a:cubicBezTo>
                <a:cubicBezTo>
                  <a:pt x="84386" y="331046"/>
                  <a:pt x="90815" y="331582"/>
                  <a:pt x="96240" y="328836"/>
                </a:cubicBezTo>
                <a:lnTo>
                  <a:pt x="192948" y="279678"/>
                </a:lnTo>
                <a:lnTo>
                  <a:pt x="289590" y="328836"/>
                </a:lnTo>
                <a:cubicBezTo>
                  <a:pt x="294948" y="331582"/>
                  <a:pt x="301444" y="331046"/>
                  <a:pt x="306333" y="327496"/>
                </a:cubicBezTo>
                <a:cubicBezTo>
                  <a:pt x="311222" y="323947"/>
                  <a:pt x="313700" y="317986"/>
                  <a:pt x="312762" y="311959"/>
                </a:cubicBezTo>
                <a:lnTo>
                  <a:pt x="295818" y="204869"/>
                </a:lnTo>
                <a:lnTo>
                  <a:pt x="372435" y="128186"/>
                </a:lnTo>
                <a:cubicBezTo>
                  <a:pt x="376721" y="123899"/>
                  <a:pt x="378195" y="117604"/>
                  <a:pt x="376319" y="111844"/>
                </a:cubicBezTo>
                <a:cubicBezTo>
                  <a:pt x="374444" y="106085"/>
                  <a:pt x="369555" y="101865"/>
                  <a:pt x="363528" y="100928"/>
                </a:cubicBezTo>
                <a:lnTo>
                  <a:pt x="256505" y="83917"/>
                </a:lnTo>
                <a:lnTo>
                  <a:pt x="207280" y="-12658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5" name="Text 21"/>
          <p:cNvSpPr/>
          <p:nvPr/>
        </p:nvSpPr>
        <p:spPr>
          <a:xfrm>
            <a:off x="1722120" y="4255770"/>
            <a:ext cx="415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Ahmad al-Farg'oniy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722120" y="46366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797-865 yillar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1722120" y="4941452"/>
            <a:ext cx="1400175" cy="304800"/>
          </a:xfrm>
          <a:custGeom>
            <a:avLst/>
            <a:gdLst/>
            <a:ahLst/>
            <a:cxnLst/>
            <a:rect l="l" t="t" r="r" b="b"/>
            <a:pathLst>
              <a:path w="1400175" h="304800">
                <a:moveTo>
                  <a:pt x="152400" y="0"/>
                </a:moveTo>
                <a:lnTo>
                  <a:pt x="1247775" y="0"/>
                </a:lnTo>
                <a:cubicBezTo>
                  <a:pt x="1331887" y="0"/>
                  <a:pt x="1400175" y="68288"/>
                  <a:pt x="1400175" y="152400"/>
                </a:cubicBezTo>
                <a:lnTo>
                  <a:pt x="1400175" y="152400"/>
                </a:lnTo>
                <a:cubicBezTo>
                  <a:pt x="1400175" y="236512"/>
                  <a:pt x="1331887" y="304800"/>
                  <a:pt x="12477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1836420" y="5002411"/>
            <a:ext cx="1246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Astronomiya olimi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17220" y="5474970"/>
            <a:ext cx="521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Astronomiya sohasida muhim kashfiyotlar qilgan. Yulduzlar katalogini tuzgan, sayyoralar harakatini o'rganigan. Uning asarlari Yevropada keng tarqalgan va astronomiya rivojiga ta'sir ko'rsatgan.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195060" y="4023360"/>
            <a:ext cx="5608320" cy="2446020"/>
          </a:xfrm>
          <a:custGeom>
            <a:avLst/>
            <a:gdLst/>
            <a:ahLst/>
            <a:cxnLst/>
            <a:rect l="l" t="t" r="r" b="b"/>
            <a:pathLst>
              <a:path w="5608320" h="2446020">
                <a:moveTo>
                  <a:pt x="114303" y="0"/>
                </a:moveTo>
                <a:lnTo>
                  <a:pt x="5494017" y="0"/>
                </a:lnTo>
                <a:cubicBezTo>
                  <a:pt x="5557145" y="0"/>
                  <a:pt x="5608320" y="51175"/>
                  <a:pt x="5608320" y="114303"/>
                </a:cubicBezTo>
                <a:lnTo>
                  <a:pt x="5608320" y="2331717"/>
                </a:lnTo>
                <a:cubicBezTo>
                  <a:pt x="5608320" y="2394845"/>
                  <a:pt x="5557145" y="2446020"/>
                  <a:pt x="549401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435090" y="4263390"/>
            <a:ext cx="901065" cy="1053465"/>
          </a:xfrm>
          <a:custGeom>
            <a:avLst/>
            <a:gdLst/>
            <a:ahLst/>
            <a:cxnLst/>
            <a:rect l="l" t="t" r="r" b="b"/>
            <a:pathLst>
              <a:path w="901065" h="1053465">
                <a:moveTo>
                  <a:pt x="76203" y="0"/>
                </a:moveTo>
                <a:lnTo>
                  <a:pt x="824862" y="0"/>
                </a:lnTo>
                <a:cubicBezTo>
                  <a:pt x="866948" y="0"/>
                  <a:pt x="901065" y="34117"/>
                  <a:pt x="901065" y="76203"/>
                </a:cubicBezTo>
                <a:lnTo>
                  <a:pt x="901065" y="977262"/>
                </a:lnTo>
                <a:cubicBezTo>
                  <a:pt x="901065" y="1019348"/>
                  <a:pt x="866948" y="1053465"/>
                  <a:pt x="824862" y="1053465"/>
                </a:cubicBezTo>
                <a:lnTo>
                  <a:pt x="76203" y="1053465"/>
                </a:lnTo>
                <a:cubicBezTo>
                  <a:pt x="34117" y="1053465"/>
                  <a:pt x="0" y="1019348"/>
                  <a:pt x="0" y="97726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AE8E6B">
              <a:alpha val="20000"/>
            </a:srgbClr>
          </a:solidFill>
          <a:ln w="20320">
            <a:solidFill>
              <a:srgbClr val="AE8E6B">
                <a:alpha val="50196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713220" y="461772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35677" y="187523"/>
                </a:moveTo>
                <a:lnTo>
                  <a:pt x="107826" y="187523"/>
                </a:lnTo>
                <a:cubicBezTo>
                  <a:pt x="109768" y="230721"/>
                  <a:pt x="119345" y="270503"/>
                  <a:pt x="132941" y="299636"/>
                </a:cubicBezTo>
                <a:cubicBezTo>
                  <a:pt x="140576" y="316044"/>
                  <a:pt x="148813" y="327630"/>
                  <a:pt x="156448" y="334729"/>
                </a:cubicBezTo>
                <a:cubicBezTo>
                  <a:pt x="163949" y="341761"/>
                  <a:pt x="169106" y="342900"/>
                  <a:pt x="171785" y="342900"/>
                </a:cubicBezTo>
                <a:cubicBezTo>
                  <a:pt x="174464" y="342900"/>
                  <a:pt x="179621" y="341761"/>
                  <a:pt x="187122" y="334729"/>
                </a:cubicBezTo>
                <a:cubicBezTo>
                  <a:pt x="194756" y="327630"/>
                  <a:pt x="202994" y="315977"/>
                  <a:pt x="210629" y="299636"/>
                </a:cubicBezTo>
                <a:cubicBezTo>
                  <a:pt x="224224" y="270503"/>
                  <a:pt x="233802" y="230721"/>
                  <a:pt x="235744" y="187523"/>
                </a:cubicBezTo>
                <a:close/>
                <a:moveTo>
                  <a:pt x="107759" y="155377"/>
                </a:moveTo>
                <a:lnTo>
                  <a:pt x="235610" y="155377"/>
                </a:lnTo>
                <a:cubicBezTo>
                  <a:pt x="233735" y="112179"/>
                  <a:pt x="224157" y="72397"/>
                  <a:pt x="210562" y="43264"/>
                </a:cubicBezTo>
                <a:cubicBezTo>
                  <a:pt x="202927" y="26923"/>
                  <a:pt x="194690" y="15270"/>
                  <a:pt x="187055" y="8171"/>
                </a:cubicBezTo>
                <a:cubicBezTo>
                  <a:pt x="179554" y="1139"/>
                  <a:pt x="174397" y="0"/>
                  <a:pt x="171718" y="0"/>
                </a:cubicBezTo>
                <a:cubicBezTo>
                  <a:pt x="169039" y="0"/>
                  <a:pt x="163882" y="1139"/>
                  <a:pt x="156381" y="8171"/>
                </a:cubicBezTo>
                <a:cubicBezTo>
                  <a:pt x="148746" y="15270"/>
                  <a:pt x="140509" y="26923"/>
                  <a:pt x="132874" y="43264"/>
                </a:cubicBezTo>
                <a:cubicBezTo>
                  <a:pt x="119278" y="72397"/>
                  <a:pt x="109701" y="112179"/>
                  <a:pt x="107759" y="155377"/>
                </a:cubicBezTo>
                <a:close/>
                <a:moveTo>
                  <a:pt x="75612" y="155377"/>
                </a:moveTo>
                <a:cubicBezTo>
                  <a:pt x="77956" y="98048"/>
                  <a:pt x="92757" y="44805"/>
                  <a:pt x="114389" y="9845"/>
                </a:cubicBezTo>
                <a:cubicBezTo>
                  <a:pt x="52707" y="31678"/>
                  <a:pt x="7300" y="87868"/>
                  <a:pt x="1005" y="155377"/>
                </a:cubicBezTo>
                <a:lnTo>
                  <a:pt x="75612" y="155377"/>
                </a:lnTo>
                <a:close/>
                <a:moveTo>
                  <a:pt x="1005" y="187523"/>
                </a:moveTo>
                <a:cubicBezTo>
                  <a:pt x="7300" y="255032"/>
                  <a:pt x="52707" y="311222"/>
                  <a:pt x="114389" y="333055"/>
                </a:cubicBezTo>
                <a:cubicBezTo>
                  <a:pt x="92757" y="298095"/>
                  <a:pt x="77956" y="244852"/>
                  <a:pt x="75612" y="187523"/>
                </a:cubicBezTo>
                <a:lnTo>
                  <a:pt x="1005" y="187523"/>
                </a:lnTo>
                <a:close/>
                <a:moveTo>
                  <a:pt x="267824" y="187523"/>
                </a:moveTo>
                <a:cubicBezTo>
                  <a:pt x="265480" y="244852"/>
                  <a:pt x="250679" y="298095"/>
                  <a:pt x="229046" y="333055"/>
                </a:cubicBezTo>
                <a:cubicBezTo>
                  <a:pt x="290728" y="311155"/>
                  <a:pt x="336136" y="255032"/>
                  <a:pt x="342431" y="187523"/>
                </a:cubicBezTo>
                <a:lnTo>
                  <a:pt x="267824" y="187523"/>
                </a:lnTo>
                <a:close/>
                <a:moveTo>
                  <a:pt x="342431" y="155377"/>
                </a:moveTo>
                <a:cubicBezTo>
                  <a:pt x="336136" y="87868"/>
                  <a:pt x="290728" y="31678"/>
                  <a:pt x="229046" y="9845"/>
                </a:cubicBezTo>
                <a:cubicBezTo>
                  <a:pt x="250679" y="44805"/>
                  <a:pt x="265480" y="98048"/>
                  <a:pt x="267824" y="155377"/>
                </a:cubicBezTo>
                <a:lnTo>
                  <a:pt x="342431" y="155377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3" name="Text 29"/>
          <p:cNvSpPr/>
          <p:nvPr/>
        </p:nvSpPr>
        <p:spPr>
          <a:xfrm>
            <a:off x="7532370" y="4255770"/>
            <a:ext cx="415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Abu Rayhon Beruniy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7532370" y="46366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973-1048 yillar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7532370" y="4941452"/>
            <a:ext cx="1219200" cy="304800"/>
          </a:xfrm>
          <a:custGeom>
            <a:avLst/>
            <a:gdLst/>
            <a:ahLst/>
            <a:cxnLst/>
            <a:rect l="l" t="t" r="r" b="b"/>
            <a:pathLst>
              <a:path w="1219200" h="304800">
                <a:moveTo>
                  <a:pt x="152400" y="0"/>
                </a:moveTo>
                <a:lnTo>
                  <a:pt x="1066800" y="0"/>
                </a:lnTo>
                <a:cubicBezTo>
                  <a:pt x="1150912" y="0"/>
                  <a:pt x="1219200" y="68288"/>
                  <a:pt x="1219200" y="152400"/>
                </a:cubicBezTo>
                <a:lnTo>
                  <a:pt x="1219200" y="152400"/>
                </a:lnTo>
                <a:cubicBezTo>
                  <a:pt x="1219200" y="236512"/>
                  <a:pt x="1150912" y="304800"/>
                  <a:pt x="1066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7646670" y="5002411"/>
            <a:ext cx="10640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Geograf va fizik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427470" y="5474970"/>
            <a:ext cx="521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Geografiya, fizika, astronomiya va tarix sohalarida ko'plab asarlar yozgan. Yer shaklini aniqlagan, geodeziya faniga asos solgan. "Hindiston" asari uning eng mashhur asarlaridan biri.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276528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kern="0" spc="56" dirty="0">
                <a:solidFill>
                  <a:srgbClr val="AE8E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ILMIY SOHALAR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2906643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Fan sohalari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925" y="1275743"/>
            <a:ext cx="3311277" cy="2869537"/>
          </a:xfrm>
          <a:custGeom>
            <a:avLst/>
            <a:gdLst/>
            <a:ahLst/>
            <a:cxnLst/>
            <a:rect l="l" t="t" r="r" b="b"/>
            <a:pathLst>
              <a:path w="3311277" h="2869537">
                <a:moveTo>
                  <a:pt x="106029" y="0"/>
                </a:moveTo>
                <a:lnTo>
                  <a:pt x="3205247" y="0"/>
                </a:lnTo>
                <a:cubicBezTo>
                  <a:pt x="3263806" y="0"/>
                  <a:pt x="3311277" y="47471"/>
                  <a:pt x="3311277" y="106029"/>
                </a:cubicBezTo>
                <a:lnTo>
                  <a:pt x="3311277" y="2763508"/>
                </a:lnTo>
                <a:cubicBezTo>
                  <a:pt x="3311277" y="2822066"/>
                  <a:pt x="3263806" y="2869537"/>
                  <a:pt x="3205247" y="2869537"/>
                </a:cubicBezTo>
                <a:lnTo>
                  <a:pt x="106029" y="2869537"/>
                </a:lnTo>
                <a:cubicBezTo>
                  <a:pt x="47471" y="2869537"/>
                  <a:pt x="0" y="2822066"/>
                  <a:pt x="0" y="2763508"/>
                </a:cubicBezTo>
                <a:lnTo>
                  <a:pt x="0" y="106029"/>
                </a:lnTo>
                <a:cubicBezTo>
                  <a:pt x="0" y="47510"/>
                  <a:pt x="47510" y="0"/>
                  <a:pt x="106029" y="0"/>
                </a:cubicBezTo>
                <a:close/>
              </a:path>
            </a:pathLst>
          </a:custGeom>
          <a:gradFill flip="none" rotWithShape="1">
            <a:gsLst>
              <a:gs pos="0">
                <a:srgbClr val="AE8E6B">
                  <a:alpha val="30000"/>
                </a:srgbClr>
              </a:gs>
              <a:gs pos="100000">
                <a:srgbClr val="AE8E6B">
                  <a:alpha val="10000"/>
                </a:srgbClr>
              </a:gs>
            </a:gsLst>
            <a:lin ang="2700000" scaled="1"/>
          </a:gradFill>
          <a:ln w="10160">
            <a:solidFill>
              <a:srgbClr val="AE8E6B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7155" y="1455973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70680" y="0"/>
                </a:moveTo>
                <a:lnTo>
                  <a:pt x="353390" y="0"/>
                </a:lnTo>
                <a:cubicBezTo>
                  <a:pt x="392399" y="0"/>
                  <a:pt x="424070" y="31671"/>
                  <a:pt x="424070" y="70680"/>
                </a:cubicBezTo>
                <a:lnTo>
                  <a:pt x="424070" y="353390"/>
                </a:lnTo>
                <a:cubicBezTo>
                  <a:pt x="424070" y="392399"/>
                  <a:pt x="392399" y="424070"/>
                  <a:pt x="353390" y="424070"/>
                </a:cubicBezTo>
                <a:lnTo>
                  <a:pt x="70680" y="424070"/>
                </a:lnTo>
                <a:cubicBezTo>
                  <a:pt x="31671" y="424070"/>
                  <a:pt x="0" y="392399"/>
                  <a:pt x="0" y="353390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AE8E6B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9798" y="1579660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97528" y="26953"/>
                </a:moveTo>
                <a:cubicBezTo>
                  <a:pt x="100289" y="17532"/>
                  <a:pt x="108916" y="11043"/>
                  <a:pt x="118717" y="11043"/>
                </a:cubicBezTo>
                <a:lnTo>
                  <a:pt x="187739" y="11043"/>
                </a:lnTo>
                <a:cubicBezTo>
                  <a:pt x="193848" y="11043"/>
                  <a:pt x="198783" y="15979"/>
                  <a:pt x="198783" y="22087"/>
                </a:cubicBezTo>
                <a:cubicBezTo>
                  <a:pt x="198783" y="28195"/>
                  <a:pt x="193848" y="33130"/>
                  <a:pt x="187739" y="33130"/>
                </a:cubicBezTo>
                <a:lnTo>
                  <a:pt x="118717" y="33130"/>
                </a:lnTo>
                <a:lnTo>
                  <a:pt x="82377" y="157715"/>
                </a:lnTo>
                <a:cubicBezTo>
                  <a:pt x="81135" y="161960"/>
                  <a:pt x="77511" y="165031"/>
                  <a:pt x="73129" y="165583"/>
                </a:cubicBezTo>
                <a:cubicBezTo>
                  <a:pt x="68746" y="166135"/>
                  <a:pt x="64466" y="163996"/>
                  <a:pt x="62258" y="160199"/>
                </a:cubicBezTo>
                <a:lnTo>
                  <a:pt x="26780" y="99391"/>
                </a:lnTo>
                <a:lnTo>
                  <a:pt x="11043" y="99391"/>
                </a:lnTo>
                <a:cubicBezTo>
                  <a:pt x="4935" y="99391"/>
                  <a:pt x="0" y="94456"/>
                  <a:pt x="0" y="88348"/>
                </a:cubicBezTo>
                <a:cubicBezTo>
                  <a:pt x="0" y="82239"/>
                  <a:pt x="4935" y="77304"/>
                  <a:pt x="11043" y="77304"/>
                </a:cubicBezTo>
                <a:lnTo>
                  <a:pt x="26780" y="77304"/>
                </a:lnTo>
                <a:cubicBezTo>
                  <a:pt x="34649" y="77304"/>
                  <a:pt x="41896" y="81480"/>
                  <a:pt x="45865" y="88279"/>
                </a:cubicBezTo>
                <a:lnTo>
                  <a:pt x="68366" y="126862"/>
                </a:lnTo>
                <a:lnTo>
                  <a:pt x="97493" y="26953"/>
                </a:lnTo>
                <a:close/>
                <a:moveTo>
                  <a:pt x="135766" y="80548"/>
                </a:moveTo>
                <a:cubicBezTo>
                  <a:pt x="140080" y="76235"/>
                  <a:pt x="147085" y="76235"/>
                  <a:pt x="151399" y="80548"/>
                </a:cubicBezTo>
                <a:lnTo>
                  <a:pt x="165687" y="94836"/>
                </a:lnTo>
                <a:lnTo>
                  <a:pt x="179974" y="80548"/>
                </a:lnTo>
                <a:cubicBezTo>
                  <a:pt x="184288" y="76235"/>
                  <a:pt x="191294" y="76235"/>
                  <a:pt x="195608" y="80548"/>
                </a:cubicBezTo>
                <a:cubicBezTo>
                  <a:pt x="199921" y="84862"/>
                  <a:pt x="199921" y="91868"/>
                  <a:pt x="195608" y="96182"/>
                </a:cubicBezTo>
                <a:lnTo>
                  <a:pt x="181320" y="110469"/>
                </a:lnTo>
                <a:lnTo>
                  <a:pt x="195608" y="124757"/>
                </a:lnTo>
                <a:cubicBezTo>
                  <a:pt x="199921" y="129071"/>
                  <a:pt x="199921" y="136076"/>
                  <a:pt x="195608" y="140390"/>
                </a:cubicBezTo>
                <a:cubicBezTo>
                  <a:pt x="191294" y="144704"/>
                  <a:pt x="184288" y="144704"/>
                  <a:pt x="179974" y="140390"/>
                </a:cubicBezTo>
                <a:lnTo>
                  <a:pt x="165687" y="126103"/>
                </a:lnTo>
                <a:lnTo>
                  <a:pt x="151399" y="140390"/>
                </a:lnTo>
                <a:cubicBezTo>
                  <a:pt x="147085" y="144704"/>
                  <a:pt x="140080" y="144704"/>
                  <a:pt x="135766" y="140390"/>
                </a:cubicBezTo>
                <a:cubicBezTo>
                  <a:pt x="131452" y="136076"/>
                  <a:pt x="131452" y="129071"/>
                  <a:pt x="135766" y="124757"/>
                </a:cubicBezTo>
                <a:lnTo>
                  <a:pt x="150053" y="110469"/>
                </a:lnTo>
                <a:lnTo>
                  <a:pt x="135766" y="96182"/>
                </a:lnTo>
                <a:cubicBezTo>
                  <a:pt x="131452" y="91868"/>
                  <a:pt x="131452" y="84862"/>
                  <a:pt x="135766" y="80548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1067242" y="1526651"/>
            <a:ext cx="1404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Matematika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4824" y="2056738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4529" y="2021399"/>
            <a:ext cx="17139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Algebra fanining rivojlanishi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4824" y="237479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13" name="Text 11"/>
          <p:cNvSpPr/>
          <p:nvPr/>
        </p:nvSpPr>
        <p:spPr>
          <a:xfrm>
            <a:off x="784529" y="2339451"/>
            <a:ext cx="213801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Algoritm tushunchasining kiritilishi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4824" y="2692842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15" name="Text 13"/>
          <p:cNvSpPr/>
          <p:nvPr/>
        </p:nvSpPr>
        <p:spPr>
          <a:xfrm>
            <a:off x="784529" y="2657503"/>
            <a:ext cx="23058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O'nlik sanoq tizimining takomillashuvi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4824" y="3010894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17" name="Text 15"/>
          <p:cNvSpPr/>
          <p:nvPr/>
        </p:nvSpPr>
        <p:spPr>
          <a:xfrm>
            <a:off x="784529" y="2975555"/>
            <a:ext cx="23235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Trigonometriya asoslarining yaratilishi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8945" y="1275743"/>
            <a:ext cx="3311277" cy="2869537"/>
          </a:xfrm>
          <a:custGeom>
            <a:avLst/>
            <a:gdLst/>
            <a:ahLst/>
            <a:cxnLst/>
            <a:rect l="l" t="t" r="r" b="b"/>
            <a:pathLst>
              <a:path w="3311277" h="2869537">
                <a:moveTo>
                  <a:pt x="106029" y="0"/>
                </a:moveTo>
                <a:lnTo>
                  <a:pt x="3205247" y="0"/>
                </a:lnTo>
                <a:cubicBezTo>
                  <a:pt x="3263806" y="0"/>
                  <a:pt x="3311277" y="47471"/>
                  <a:pt x="3311277" y="106029"/>
                </a:cubicBezTo>
                <a:lnTo>
                  <a:pt x="3311277" y="2763508"/>
                </a:lnTo>
                <a:cubicBezTo>
                  <a:pt x="3311277" y="2822066"/>
                  <a:pt x="3263806" y="2869537"/>
                  <a:pt x="3205247" y="2869537"/>
                </a:cubicBezTo>
                <a:lnTo>
                  <a:pt x="106029" y="2869537"/>
                </a:lnTo>
                <a:cubicBezTo>
                  <a:pt x="47471" y="2869537"/>
                  <a:pt x="0" y="2822066"/>
                  <a:pt x="0" y="2763508"/>
                </a:cubicBezTo>
                <a:lnTo>
                  <a:pt x="0" y="106029"/>
                </a:lnTo>
                <a:cubicBezTo>
                  <a:pt x="0" y="47510"/>
                  <a:pt x="47510" y="0"/>
                  <a:pt x="10602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99175" y="1455973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70680" y="0"/>
                </a:moveTo>
                <a:lnTo>
                  <a:pt x="353390" y="0"/>
                </a:lnTo>
                <a:cubicBezTo>
                  <a:pt x="392399" y="0"/>
                  <a:pt x="424070" y="31671"/>
                  <a:pt x="424070" y="70680"/>
                </a:cubicBezTo>
                <a:lnTo>
                  <a:pt x="424070" y="353390"/>
                </a:lnTo>
                <a:cubicBezTo>
                  <a:pt x="424070" y="392399"/>
                  <a:pt x="392399" y="424070"/>
                  <a:pt x="353390" y="424070"/>
                </a:cubicBezTo>
                <a:lnTo>
                  <a:pt x="70680" y="424070"/>
                </a:lnTo>
                <a:cubicBezTo>
                  <a:pt x="31671" y="424070"/>
                  <a:pt x="0" y="392399"/>
                  <a:pt x="0" y="353390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22862" y="1579660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37237"/>
                </a:moveTo>
                <a:lnTo>
                  <a:pt x="83171" y="30059"/>
                </a:lnTo>
                <a:cubicBezTo>
                  <a:pt x="74543" y="18118"/>
                  <a:pt x="60705" y="11043"/>
                  <a:pt x="45934" y="11043"/>
                </a:cubicBezTo>
                <a:cubicBezTo>
                  <a:pt x="20568" y="11043"/>
                  <a:pt x="0" y="31612"/>
                  <a:pt x="0" y="56977"/>
                </a:cubicBezTo>
                <a:lnTo>
                  <a:pt x="0" y="57875"/>
                </a:lnTo>
                <a:cubicBezTo>
                  <a:pt x="0" y="66019"/>
                  <a:pt x="2140" y="74440"/>
                  <a:pt x="5729" y="82826"/>
                </a:cubicBezTo>
                <a:lnTo>
                  <a:pt x="42310" y="82826"/>
                </a:lnTo>
                <a:cubicBezTo>
                  <a:pt x="43415" y="82826"/>
                  <a:pt x="44415" y="82170"/>
                  <a:pt x="44864" y="81135"/>
                </a:cubicBezTo>
                <a:lnTo>
                  <a:pt x="55839" y="54803"/>
                </a:lnTo>
                <a:cubicBezTo>
                  <a:pt x="57115" y="51766"/>
                  <a:pt x="60083" y="49765"/>
                  <a:pt x="63362" y="49696"/>
                </a:cubicBezTo>
                <a:cubicBezTo>
                  <a:pt x="66640" y="49627"/>
                  <a:pt x="69677" y="51559"/>
                  <a:pt x="71023" y="54562"/>
                </a:cubicBezTo>
                <a:lnTo>
                  <a:pt x="88727" y="93870"/>
                </a:lnTo>
                <a:lnTo>
                  <a:pt x="103015" y="65295"/>
                </a:lnTo>
                <a:cubicBezTo>
                  <a:pt x="104430" y="62499"/>
                  <a:pt x="107294" y="60705"/>
                  <a:pt x="110435" y="60705"/>
                </a:cubicBezTo>
                <a:cubicBezTo>
                  <a:pt x="113575" y="60705"/>
                  <a:pt x="116440" y="62465"/>
                  <a:pt x="117855" y="65295"/>
                </a:cubicBezTo>
                <a:lnTo>
                  <a:pt x="125861" y="81273"/>
                </a:lnTo>
                <a:cubicBezTo>
                  <a:pt x="126344" y="82205"/>
                  <a:pt x="127276" y="82792"/>
                  <a:pt x="128346" y="82792"/>
                </a:cubicBezTo>
                <a:lnTo>
                  <a:pt x="171001" y="82792"/>
                </a:lnTo>
                <a:cubicBezTo>
                  <a:pt x="174625" y="74405"/>
                  <a:pt x="176730" y="65985"/>
                  <a:pt x="176730" y="57840"/>
                </a:cubicBezTo>
                <a:lnTo>
                  <a:pt x="176730" y="56943"/>
                </a:lnTo>
                <a:cubicBezTo>
                  <a:pt x="176696" y="31612"/>
                  <a:pt x="156127" y="11043"/>
                  <a:pt x="130762" y="11043"/>
                </a:cubicBezTo>
                <a:cubicBezTo>
                  <a:pt x="116026" y="11043"/>
                  <a:pt x="102152" y="18118"/>
                  <a:pt x="93524" y="30059"/>
                </a:cubicBezTo>
                <a:lnTo>
                  <a:pt x="88348" y="37203"/>
                </a:lnTo>
                <a:close/>
                <a:moveTo>
                  <a:pt x="162063" y="99391"/>
                </a:moveTo>
                <a:lnTo>
                  <a:pt x="128311" y="99391"/>
                </a:lnTo>
                <a:cubicBezTo>
                  <a:pt x="120995" y="99391"/>
                  <a:pt x="114300" y="95250"/>
                  <a:pt x="111021" y="88693"/>
                </a:cubicBezTo>
                <a:lnTo>
                  <a:pt x="110435" y="87520"/>
                </a:lnTo>
                <a:lnTo>
                  <a:pt x="95768" y="116888"/>
                </a:lnTo>
                <a:cubicBezTo>
                  <a:pt x="94353" y="119753"/>
                  <a:pt x="91385" y="121547"/>
                  <a:pt x="88175" y="121478"/>
                </a:cubicBezTo>
                <a:cubicBezTo>
                  <a:pt x="84966" y="121409"/>
                  <a:pt x="82101" y="119511"/>
                  <a:pt x="80790" y="116612"/>
                </a:cubicBezTo>
                <a:lnTo>
                  <a:pt x="63776" y="78823"/>
                </a:lnTo>
                <a:lnTo>
                  <a:pt x="60152" y="87520"/>
                </a:lnTo>
                <a:cubicBezTo>
                  <a:pt x="57150" y="94732"/>
                  <a:pt x="50110" y="99426"/>
                  <a:pt x="42310" y="99426"/>
                </a:cubicBezTo>
                <a:lnTo>
                  <a:pt x="14633" y="99426"/>
                </a:lnTo>
                <a:cubicBezTo>
                  <a:pt x="30922" y="124895"/>
                  <a:pt x="57081" y="148328"/>
                  <a:pt x="73439" y="160821"/>
                </a:cubicBezTo>
                <a:cubicBezTo>
                  <a:pt x="77718" y="164065"/>
                  <a:pt x="82964" y="165687"/>
                  <a:pt x="88313" y="165687"/>
                </a:cubicBezTo>
                <a:cubicBezTo>
                  <a:pt x="93662" y="165687"/>
                  <a:pt x="98943" y="164099"/>
                  <a:pt x="103187" y="160821"/>
                </a:cubicBezTo>
                <a:cubicBezTo>
                  <a:pt x="119615" y="148293"/>
                  <a:pt x="145774" y="124860"/>
                  <a:pt x="162063" y="99391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1" name="Text 19"/>
          <p:cNvSpPr/>
          <p:nvPr/>
        </p:nvSpPr>
        <p:spPr>
          <a:xfrm>
            <a:off x="4529262" y="1526651"/>
            <a:ext cx="1024835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Tibbiyot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16844" y="2056738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3" name="Text 21"/>
          <p:cNvSpPr/>
          <p:nvPr/>
        </p:nvSpPr>
        <p:spPr>
          <a:xfrm>
            <a:off x="4246549" y="2021399"/>
            <a:ext cx="174045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Kasalliklarni aniqlash usullari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16844" y="237479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5" name="Text 23"/>
          <p:cNvSpPr/>
          <p:nvPr/>
        </p:nvSpPr>
        <p:spPr>
          <a:xfrm>
            <a:off x="4246549" y="2339451"/>
            <a:ext cx="213801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Davolash metodlarining rivojlanishi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16844" y="2692842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7" name="Text 25"/>
          <p:cNvSpPr/>
          <p:nvPr/>
        </p:nvSpPr>
        <p:spPr>
          <a:xfrm>
            <a:off x="4246549" y="2657503"/>
            <a:ext cx="223520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Anatomiya va fiziologiya tadqiqotlari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16844" y="3010894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9" name="Text 27"/>
          <p:cNvSpPr/>
          <p:nvPr/>
        </p:nvSpPr>
        <p:spPr>
          <a:xfrm>
            <a:off x="4246549" y="2975555"/>
            <a:ext cx="2076174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Tibbiyot maktablari tashkil etilishi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6925" y="4293706"/>
            <a:ext cx="3311277" cy="2053314"/>
          </a:xfrm>
          <a:custGeom>
            <a:avLst/>
            <a:gdLst/>
            <a:ahLst/>
            <a:cxnLst/>
            <a:rect l="l" t="t" r="r" b="b"/>
            <a:pathLst>
              <a:path w="3311277" h="2869537">
                <a:moveTo>
                  <a:pt x="106029" y="0"/>
                </a:moveTo>
                <a:lnTo>
                  <a:pt x="3205247" y="0"/>
                </a:lnTo>
                <a:cubicBezTo>
                  <a:pt x="3263806" y="0"/>
                  <a:pt x="3311277" y="47471"/>
                  <a:pt x="3311277" y="106029"/>
                </a:cubicBezTo>
                <a:lnTo>
                  <a:pt x="3311277" y="2763508"/>
                </a:lnTo>
                <a:cubicBezTo>
                  <a:pt x="3311277" y="2822066"/>
                  <a:pt x="3263806" y="2869537"/>
                  <a:pt x="3205247" y="2869537"/>
                </a:cubicBezTo>
                <a:lnTo>
                  <a:pt x="106029" y="2869537"/>
                </a:lnTo>
                <a:cubicBezTo>
                  <a:pt x="47471" y="2869537"/>
                  <a:pt x="0" y="2822066"/>
                  <a:pt x="0" y="2763508"/>
                </a:cubicBezTo>
                <a:lnTo>
                  <a:pt x="0" y="106029"/>
                </a:lnTo>
                <a:cubicBezTo>
                  <a:pt x="0" y="47510"/>
                  <a:pt x="47510" y="0"/>
                  <a:pt x="10602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7155" y="4473935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70680" y="0"/>
                </a:moveTo>
                <a:lnTo>
                  <a:pt x="353390" y="0"/>
                </a:lnTo>
                <a:cubicBezTo>
                  <a:pt x="392399" y="0"/>
                  <a:pt x="424070" y="31671"/>
                  <a:pt x="424070" y="70680"/>
                </a:cubicBezTo>
                <a:lnTo>
                  <a:pt x="424070" y="353390"/>
                </a:lnTo>
                <a:cubicBezTo>
                  <a:pt x="424070" y="392399"/>
                  <a:pt x="392399" y="424070"/>
                  <a:pt x="353390" y="424070"/>
                </a:cubicBezTo>
                <a:lnTo>
                  <a:pt x="70680" y="424070"/>
                </a:lnTo>
                <a:cubicBezTo>
                  <a:pt x="31671" y="424070"/>
                  <a:pt x="0" y="392399"/>
                  <a:pt x="0" y="353390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9798" y="4597622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3" name="Text 31"/>
          <p:cNvSpPr/>
          <p:nvPr/>
        </p:nvSpPr>
        <p:spPr>
          <a:xfrm>
            <a:off x="1067242" y="4544613"/>
            <a:ext cx="1501913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Astronomiya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4824" y="507470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5" name="Text 33"/>
          <p:cNvSpPr/>
          <p:nvPr/>
        </p:nvSpPr>
        <p:spPr>
          <a:xfrm>
            <a:off x="784529" y="5039361"/>
            <a:ext cx="202316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Yulduzlar kataloglarining tuzilishi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4824" y="5392753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7" name="Text 35"/>
          <p:cNvSpPr/>
          <p:nvPr/>
        </p:nvSpPr>
        <p:spPr>
          <a:xfrm>
            <a:off x="784529" y="5357413"/>
            <a:ext cx="1872974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Sayyoralar harakatini o'rganish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4824" y="5710805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9" name="Text 37"/>
          <p:cNvSpPr/>
          <p:nvPr/>
        </p:nvSpPr>
        <p:spPr>
          <a:xfrm>
            <a:off x="784529" y="5675466"/>
            <a:ext cx="13605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Rasadxonalar qurilishi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54824" y="6028857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41" name="Text 39"/>
          <p:cNvSpPr/>
          <p:nvPr/>
        </p:nvSpPr>
        <p:spPr>
          <a:xfrm>
            <a:off x="784529" y="5993518"/>
            <a:ext cx="18994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Astronomik jadvallar yaratilishi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18945" y="4293705"/>
            <a:ext cx="3311277" cy="2053315"/>
          </a:xfrm>
          <a:custGeom>
            <a:avLst/>
            <a:gdLst/>
            <a:ahLst/>
            <a:cxnLst/>
            <a:rect l="l" t="t" r="r" b="b"/>
            <a:pathLst>
              <a:path w="3311277" h="2869537">
                <a:moveTo>
                  <a:pt x="106029" y="0"/>
                </a:moveTo>
                <a:lnTo>
                  <a:pt x="3205247" y="0"/>
                </a:lnTo>
                <a:cubicBezTo>
                  <a:pt x="3263806" y="0"/>
                  <a:pt x="3311277" y="47471"/>
                  <a:pt x="3311277" y="106029"/>
                </a:cubicBezTo>
                <a:lnTo>
                  <a:pt x="3311277" y="2763508"/>
                </a:lnTo>
                <a:cubicBezTo>
                  <a:pt x="3311277" y="2822066"/>
                  <a:pt x="3263806" y="2869537"/>
                  <a:pt x="3205247" y="2869537"/>
                </a:cubicBezTo>
                <a:lnTo>
                  <a:pt x="106029" y="2869537"/>
                </a:lnTo>
                <a:cubicBezTo>
                  <a:pt x="47471" y="2869537"/>
                  <a:pt x="0" y="2822066"/>
                  <a:pt x="0" y="2763508"/>
                </a:cubicBezTo>
                <a:lnTo>
                  <a:pt x="0" y="106029"/>
                </a:lnTo>
                <a:cubicBezTo>
                  <a:pt x="0" y="47510"/>
                  <a:pt x="47510" y="0"/>
                  <a:pt x="10602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9175" y="4473935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70680" y="0"/>
                </a:moveTo>
                <a:lnTo>
                  <a:pt x="353390" y="0"/>
                </a:lnTo>
                <a:cubicBezTo>
                  <a:pt x="392399" y="0"/>
                  <a:pt x="424070" y="31671"/>
                  <a:pt x="424070" y="70680"/>
                </a:cubicBezTo>
                <a:lnTo>
                  <a:pt x="424070" y="353390"/>
                </a:lnTo>
                <a:cubicBezTo>
                  <a:pt x="424070" y="392399"/>
                  <a:pt x="392399" y="424070"/>
                  <a:pt x="353390" y="424070"/>
                </a:cubicBezTo>
                <a:lnTo>
                  <a:pt x="70680" y="424070"/>
                </a:lnTo>
                <a:cubicBezTo>
                  <a:pt x="31671" y="424070"/>
                  <a:pt x="0" y="392399"/>
                  <a:pt x="0" y="353390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33905" y="4597622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99391" y="0"/>
                </a:moveTo>
                <a:lnTo>
                  <a:pt x="44174" y="0"/>
                </a:lnTo>
                <a:cubicBezTo>
                  <a:pt x="38065" y="0"/>
                  <a:pt x="33130" y="4935"/>
                  <a:pt x="33130" y="11043"/>
                </a:cubicBezTo>
                <a:cubicBezTo>
                  <a:pt x="33130" y="17152"/>
                  <a:pt x="38065" y="22087"/>
                  <a:pt x="44174" y="22087"/>
                </a:cubicBezTo>
                <a:lnTo>
                  <a:pt x="44174" y="74371"/>
                </a:lnTo>
                <a:lnTo>
                  <a:pt x="2588" y="147120"/>
                </a:lnTo>
                <a:cubicBezTo>
                  <a:pt x="897" y="150122"/>
                  <a:pt x="0" y="153470"/>
                  <a:pt x="0" y="156921"/>
                </a:cubicBezTo>
                <a:cubicBezTo>
                  <a:pt x="0" y="167861"/>
                  <a:pt x="8835" y="176696"/>
                  <a:pt x="19775" y="176696"/>
                </a:cubicBezTo>
                <a:lnTo>
                  <a:pt x="134834" y="176696"/>
                </a:lnTo>
                <a:cubicBezTo>
                  <a:pt x="145739" y="176696"/>
                  <a:pt x="154609" y="167861"/>
                  <a:pt x="154609" y="156921"/>
                </a:cubicBezTo>
                <a:cubicBezTo>
                  <a:pt x="154609" y="153470"/>
                  <a:pt x="153711" y="150088"/>
                  <a:pt x="152020" y="147120"/>
                </a:cubicBezTo>
                <a:lnTo>
                  <a:pt x="110435" y="74371"/>
                </a:lnTo>
                <a:lnTo>
                  <a:pt x="110435" y="22087"/>
                </a:lnTo>
                <a:cubicBezTo>
                  <a:pt x="116543" y="22087"/>
                  <a:pt x="121478" y="17152"/>
                  <a:pt x="121478" y="11043"/>
                </a:cubicBezTo>
                <a:cubicBezTo>
                  <a:pt x="121478" y="4935"/>
                  <a:pt x="116543" y="0"/>
                  <a:pt x="110435" y="0"/>
                </a:cubicBezTo>
                <a:lnTo>
                  <a:pt x="99391" y="0"/>
                </a:lnTo>
                <a:close/>
                <a:moveTo>
                  <a:pt x="66261" y="74371"/>
                </a:moveTo>
                <a:lnTo>
                  <a:pt x="66261" y="22087"/>
                </a:lnTo>
                <a:lnTo>
                  <a:pt x="88348" y="22087"/>
                </a:lnTo>
                <a:lnTo>
                  <a:pt x="88348" y="74371"/>
                </a:lnTo>
                <a:cubicBezTo>
                  <a:pt x="88348" y="78202"/>
                  <a:pt x="89349" y="81998"/>
                  <a:pt x="91247" y="85345"/>
                </a:cubicBezTo>
                <a:lnTo>
                  <a:pt x="105603" y="110435"/>
                </a:lnTo>
                <a:lnTo>
                  <a:pt x="49005" y="110435"/>
                </a:lnTo>
                <a:lnTo>
                  <a:pt x="63362" y="85345"/>
                </a:lnTo>
                <a:cubicBezTo>
                  <a:pt x="65260" y="81998"/>
                  <a:pt x="66261" y="78236"/>
                  <a:pt x="66261" y="74371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5" name="Text 43"/>
          <p:cNvSpPr/>
          <p:nvPr/>
        </p:nvSpPr>
        <p:spPr>
          <a:xfrm>
            <a:off x="4529262" y="4544613"/>
            <a:ext cx="81280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Kimyo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16844" y="507470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47" name="Text 45"/>
          <p:cNvSpPr/>
          <p:nvPr/>
        </p:nvSpPr>
        <p:spPr>
          <a:xfrm>
            <a:off x="4246549" y="5039361"/>
            <a:ext cx="192598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Moddalar tarkibini tadqiq qilish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16844" y="5392753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49" name="Text 47"/>
          <p:cNvSpPr/>
          <p:nvPr/>
        </p:nvSpPr>
        <p:spPr>
          <a:xfrm>
            <a:off x="4246549" y="5357413"/>
            <a:ext cx="194365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Kimyoviy reaksiyalarni o'rganish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016844" y="5710805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51" name="Text 49"/>
          <p:cNvSpPr/>
          <p:nvPr/>
        </p:nvSpPr>
        <p:spPr>
          <a:xfrm>
            <a:off x="4246549" y="5675466"/>
            <a:ext cx="160793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Dorilar va zaharlar tadqiqi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016844" y="6028857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53" name="Text 51"/>
          <p:cNvSpPr/>
          <p:nvPr/>
        </p:nvSpPr>
        <p:spPr>
          <a:xfrm>
            <a:off x="4246549" y="5993518"/>
            <a:ext cx="22086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Laboratoriya usullarining rivojlanishi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16305" y="1275743"/>
            <a:ext cx="4512807" cy="3965050"/>
          </a:xfrm>
          <a:custGeom>
            <a:avLst/>
            <a:gdLst/>
            <a:ahLst/>
            <a:cxnLst/>
            <a:rect l="l" t="t" r="r" b="b"/>
            <a:pathLst>
              <a:path w="4512807" h="3965050">
                <a:moveTo>
                  <a:pt x="106025" y="0"/>
                </a:moveTo>
                <a:lnTo>
                  <a:pt x="4406782" y="0"/>
                </a:lnTo>
                <a:cubicBezTo>
                  <a:pt x="4465338" y="0"/>
                  <a:pt x="4512807" y="47469"/>
                  <a:pt x="4512807" y="106025"/>
                </a:cubicBezTo>
                <a:lnTo>
                  <a:pt x="4512807" y="3859025"/>
                </a:lnTo>
                <a:cubicBezTo>
                  <a:pt x="4512807" y="3917581"/>
                  <a:pt x="4465338" y="3965050"/>
                  <a:pt x="4406782" y="3965050"/>
                </a:cubicBezTo>
                <a:lnTo>
                  <a:pt x="106025" y="3965050"/>
                </a:lnTo>
                <a:cubicBezTo>
                  <a:pt x="47469" y="3965050"/>
                  <a:pt x="0" y="3917581"/>
                  <a:pt x="0" y="3859025"/>
                </a:cubicBezTo>
                <a:lnTo>
                  <a:pt x="0" y="106025"/>
                </a:lnTo>
                <a:cubicBezTo>
                  <a:pt x="0" y="47469"/>
                  <a:pt x="47469" y="0"/>
                  <a:pt x="10602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AE8E6B">
                <a:alpha val="40000"/>
              </a:srgbClr>
            </a:solidFill>
            <a:prstDash val="solid"/>
          </a:ln>
        </p:spPr>
      </p:sp>
      <p:pic>
        <p:nvPicPr>
          <p:cNvPr id="55" name="Image 0" descr="https://kimi-web-img.moonshot.cn/img/artofislamicpattern.com/792ee6f0dcbec87c6495abea708eefedbdb268c5.jpg"/>
          <p:cNvPicPr>
            <a:picLocks noChangeAspect="1"/>
          </p:cNvPicPr>
          <p:nvPr/>
        </p:nvPicPr>
        <p:blipFill>
          <a:blip r:embed="rId3"/>
          <a:srcRect l="19" r="19"/>
          <a:stretch/>
        </p:blipFill>
        <p:spPr>
          <a:xfrm>
            <a:off x="7319838" y="1279277"/>
            <a:ext cx="4505739" cy="3957983"/>
          </a:xfrm>
          <a:prstGeom prst="roundRect">
            <a:avLst>
              <a:gd name="adj" fmla="val 2679"/>
            </a:avLst>
          </a:prstGeom>
        </p:spPr>
      </p:pic>
      <p:sp>
        <p:nvSpPr>
          <p:cNvPr id="56" name="Shape 53"/>
          <p:cNvSpPr/>
          <p:nvPr/>
        </p:nvSpPr>
        <p:spPr>
          <a:xfrm>
            <a:off x="7316305" y="5389328"/>
            <a:ext cx="4512807" cy="1311083"/>
          </a:xfrm>
          <a:custGeom>
            <a:avLst/>
            <a:gdLst/>
            <a:ahLst/>
            <a:cxnLst/>
            <a:rect l="l" t="t" r="r" b="b"/>
            <a:pathLst>
              <a:path w="4512807" h="1774024">
                <a:moveTo>
                  <a:pt x="106016" y="0"/>
                </a:moveTo>
                <a:lnTo>
                  <a:pt x="4406791" y="0"/>
                </a:lnTo>
                <a:cubicBezTo>
                  <a:pt x="4465342" y="0"/>
                  <a:pt x="4512807" y="47465"/>
                  <a:pt x="4512807" y="106016"/>
                </a:cubicBezTo>
                <a:lnTo>
                  <a:pt x="4512807" y="1668009"/>
                </a:lnTo>
                <a:cubicBezTo>
                  <a:pt x="4512807" y="1726560"/>
                  <a:pt x="4465342" y="1774024"/>
                  <a:pt x="4406791" y="1774024"/>
                </a:cubicBezTo>
                <a:lnTo>
                  <a:pt x="106016" y="1774024"/>
                </a:lnTo>
                <a:cubicBezTo>
                  <a:pt x="47465" y="1774024"/>
                  <a:pt x="0" y="1726560"/>
                  <a:pt x="0" y="1668009"/>
                </a:cubicBezTo>
                <a:lnTo>
                  <a:pt x="0" y="106016"/>
                </a:lnTo>
                <a:cubicBezTo>
                  <a:pt x="0" y="47504"/>
                  <a:pt x="47504" y="0"/>
                  <a:pt x="106016" y="0"/>
                </a:cubicBezTo>
                <a:close/>
              </a:path>
            </a:pathLst>
          </a:custGeom>
          <a:solidFill>
            <a:srgbClr val="AE8E6B">
              <a:alpha val="10196"/>
            </a:srgbClr>
          </a:soli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540708" y="5604897"/>
            <a:ext cx="132522" cy="176696"/>
          </a:xfrm>
          <a:custGeom>
            <a:avLst/>
            <a:gdLst/>
            <a:ahLst/>
            <a:cxnLst/>
            <a:rect l="l" t="t" r="r" b="b"/>
            <a:pathLst>
              <a:path w="132522" h="176696">
                <a:moveTo>
                  <a:pt x="101082" y="132522"/>
                </a:moveTo>
                <a:cubicBezTo>
                  <a:pt x="103602" y="124826"/>
                  <a:pt x="108640" y="117855"/>
                  <a:pt x="114335" y="111850"/>
                </a:cubicBezTo>
                <a:cubicBezTo>
                  <a:pt x="125620" y="99978"/>
                  <a:pt x="132522" y="83930"/>
                  <a:pt x="132522" y="66261"/>
                </a:cubicBezTo>
                <a:cubicBezTo>
                  <a:pt x="132522" y="29679"/>
                  <a:pt x="102842" y="0"/>
                  <a:pt x="66261" y="0"/>
                </a:cubicBezTo>
                <a:cubicBezTo>
                  <a:pt x="29679" y="0"/>
                  <a:pt x="0" y="29679"/>
                  <a:pt x="0" y="66261"/>
                </a:cubicBezTo>
                <a:cubicBezTo>
                  <a:pt x="0" y="83930"/>
                  <a:pt x="6902" y="99978"/>
                  <a:pt x="18187" y="111850"/>
                </a:cubicBezTo>
                <a:cubicBezTo>
                  <a:pt x="23882" y="117855"/>
                  <a:pt x="28955" y="124826"/>
                  <a:pt x="31439" y="132522"/>
                </a:cubicBezTo>
                <a:lnTo>
                  <a:pt x="101048" y="132522"/>
                </a:lnTo>
                <a:close/>
                <a:moveTo>
                  <a:pt x="99391" y="149087"/>
                </a:moveTo>
                <a:lnTo>
                  <a:pt x="33130" y="149087"/>
                </a:lnTo>
                <a:lnTo>
                  <a:pt x="33130" y="154609"/>
                </a:lnTo>
                <a:cubicBezTo>
                  <a:pt x="33130" y="169863"/>
                  <a:pt x="45485" y="182217"/>
                  <a:pt x="60739" y="182217"/>
                </a:cubicBezTo>
                <a:lnTo>
                  <a:pt x="71783" y="182217"/>
                </a:lnTo>
                <a:cubicBezTo>
                  <a:pt x="87036" y="182217"/>
                  <a:pt x="99391" y="169863"/>
                  <a:pt x="99391" y="154609"/>
                </a:cubicBezTo>
                <a:lnTo>
                  <a:pt x="99391" y="149087"/>
                </a:lnTo>
                <a:close/>
                <a:moveTo>
                  <a:pt x="63500" y="38652"/>
                </a:moveTo>
                <a:cubicBezTo>
                  <a:pt x="49765" y="38652"/>
                  <a:pt x="38652" y="49765"/>
                  <a:pt x="38652" y="63500"/>
                </a:cubicBezTo>
                <a:cubicBezTo>
                  <a:pt x="38652" y="68090"/>
                  <a:pt x="34960" y="71783"/>
                  <a:pt x="30370" y="71783"/>
                </a:cubicBezTo>
                <a:cubicBezTo>
                  <a:pt x="25780" y="71783"/>
                  <a:pt x="22087" y="68090"/>
                  <a:pt x="22087" y="63500"/>
                </a:cubicBezTo>
                <a:cubicBezTo>
                  <a:pt x="22087" y="40619"/>
                  <a:pt x="40619" y="22087"/>
                  <a:pt x="63500" y="22087"/>
                </a:cubicBezTo>
                <a:cubicBezTo>
                  <a:pt x="68090" y="22087"/>
                  <a:pt x="71783" y="25780"/>
                  <a:pt x="71783" y="30370"/>
                </a:cubicBezTo>
                <a:cubicBezTo>
                  <a:pt x="71783" y="34960"/>
                  <a:pt x="68090" y="38652"/>
                  <a:pt x="63500" y="38652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58" name="Text 55"/>
          <p:cNvSpPr/>
          <p:nvPr/>
        </p:nvSpPr>
        <p:spPr>
          <a:xfrm>
            <a:off x="7717404" y="5569558"/>
            <a:ext cx="401982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Qo'shimcha fanlar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7496534" y="5993628"/>
            <a:ext cx="70678" cy="70678"/>
          </a:xfrm>
          <a:custGeom>
            <a:avLst/>
            <a:gdLst/>
            <a:ahLst/>
            <a:cxnLst/>
            <a:rect l="l" t="t" r="r" b="b"/>
            <a:pathLst>
              <a:path w="70678" h="70678">
                <a:moveTo>
                  <a:pt x="35339" y="0"/>
                </a:moveTo>
                <a:lnTo>
                  <a:pt x="35339" y="0"/>
                </a:lnTo>
                <a:cubicBezTo>
                  <a:pt x="54843" y="0"/>
                  <a:pt x="70678" y="15835"/>
                  <a:pt x="70678" y="35339"/>
                </a:cubicBezTo>
                <a:lnTo>
                  <a:pt x="70678" y="35339"/>
                </a:lnTo>
                <a:cubicBezTo>
                  <a:pt x="70678" y="54843"/>
                  <a:pt x="54843" y="70678"/>
                  <a:pt x="35339" y="70678"/>
                </a:cubicBezTo>
                <a:lnTo>
                  <a:pt x="35339" y="70678"/>
                </a:lnTo>
                <a:cubicBezTo>
                  <a:pt x="15835" y="70678"/>
                  <a:pt x="0" y="54843"/>
                  <a:pt x="0" y="3533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60" name="Text 57"/>
          <p:cNvSpPr/>
          <p:nvPr/>
        </p:nvSpPr>
        <p:spPr>
          <a:xfrm>
            <a:off x="7637891" y="5922950"/>
            <a:ext cx="114852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Fizika va mexanika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496534" y="6276341"/>
            <a:ext cx="70678" cy="70678"/>
          </a:xfrm>
          <a:custGeom>
            <a:avLst/>
            <a:gdLst/>
            <a:ahLst/>
            <a:cxnLst/>
            <a:rect l="l" t="t" r="r" b="b"/>
            <a:pathLst>
              <a:path w="70678" h="70678">
                <a:moveTo>
                  <a:pt x="35339" y="0"/>
                </a:moveTo>
                <a:lnTo>
                  <a:pt x="35339" y="0"/>
                </a:lnTo>
                <a:cubicBezTo>
                  <a:pt x="54843" y="0"/>
                  <a:pt x="70678" y="15835"/>
                  <a:pt x="70678" y="35339"/>
                </a:cubicBezTo>
                <a:lnTo>
                  <a:pt x="70678" y="35339"/>
                </a:lnTo>
                <a:cubicBezTo>
                  <a:pt x="70678" y="54843"/>
                  <a:pt x="54843" y="70678"/>
                  <a:pt x="35339" y="70678"/>
                </a:cubicBezTo>
                <a:lnTo>
                  <a:pt x="35339" y="70678"/>
                </a:lnTo>
                <a:cubicBezTo>
                  <a:pt x="15835" y="70678"/>
                  <a:pt x="0" y="54843"/>
                  <a:pt x="0" y="3533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62" name="Text 59"/>
          <p:cNvSpPr/>
          <p:nvPr/>
        </p:nvSpPr>
        <p:spPr>
          <a:xfrm>
            <a:off x="7637891" y="6205663"/>
            <a:ext cx="161676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Geografiya va kartografiya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7496534" y="6559054"/>
            <a:ext cx="70678" cy="70678"/>
          </a:xfrm>
          <a:custGeom>
            <a:avLst/>
            <a:gdLst/>
            <a:ahLst/>
            <a:cxnLst/>
            <a:rect l="l" t="t" r="r" b="b"/>
            <a:pathLst>
              <a:path w="70678" h="70678">
                <a:moveTo>
                  <a:pt x="35339" y="0"/>
                </a:moveTo>
                <a:lnTo>
                  <a:pt x="35339" y="0"/>
                </a:lnTo>
                <a:cubicBezTo>
                  <a:pt x="54843" y="0"/>
                  <a:pt x="70678" y="15835"/>
                  <a:pt x="70678" y="35339"/>
                </a:cubicBezTo>
                <a:lnTo>
                  <a:pt x="70678" y="35339"/>
                </a:lnTo>
                <a:cubicBezTo>
                  <a:pt x="70678" y="54843"/>
                  <a:pt x="54843" y="70678"/>
                  <a:pt x="35339" y="70678"/>
                </a:cubicBezTo>
                <a:lnTo>
                  <a:pt x="35339" y="70678"/>
                </a:lnTo>
                <a:cubicBezTo>
                  <a:pt x="15835" y="70678"/>
                  <a:pt x="0" y="54843"/>
                  <a:pt x="0" y="35339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64" name="Text 61"/>
          <p:cNvSpPr/>
          <p:nvPr/>
        </p:nvSpPr>
        <p:spPr>
          <a:xfrm>
            <a:off x="7637891" y="6488376"/>
            <a:ext cx="133405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Botanika va zoologiya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491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kern="0" spc="50" dirty="0">
                <a:solidFill>
                  <a:srgbClr val="AE8E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JAHONIY TA'SIR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5040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Islom ilm-fanining ta'siri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146175"/>
            <a:ext cx="5689600" cy="2165350"/>
          </a:xfrm>
          <a:custGeom>
            <a:avLst/>
            <a:gdLst/>
            <a:ahLst/>
            <a:cxnLst/>
            <a:rect l="l" t="t" r="r" b="b"/>
            <a:pathLst>
              <a:path w="5689600" h="2165350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2070096"/>
                </a:lnTo>
                <a:cubicBezTo>
                  <a:pt x="5689600" y="2122703"/>
                  <a:pt x="5646953" y="2165350"/>
                  <a:pt x="5594346" y="2165350"/>
                </a:cubicBezTo>
                <a:lnTo>
                  <a:pt x="95254" y="2165350"/>
                </a:lnTo>
                <a:cubicBezTo>
                  <a:pt x="42647" y="2165350"/>
                  <a:pt x="0" y="2122703"/>
                  <a:pt x="0" y="2070096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gradFill flip="none" rotWithShape="1">
            <a:gsLst>
              <a:gs pos="0">
                <a:srgbClr val="AE8E6B">
                  <a:alpha val="30000"/>
                </a:srgbClr>
              </a:gs>
              <a:gs pos="100000">
                <a:srgbClr val="AE8E6B">
                  <a:alpha val="10000"/>
                </a:srgbClr>
              </a:gs>
            </a:gsLst>
            <a:lin ang="2700000" scaled="1"/>
          </a:gradFill>
          <a:ln w="10160">
            <a:solidFill>
              <a:srgbClr val="AE8E6B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13398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AE8E6B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1350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1085850" y="1435100"/>
            <a:ext cx="2444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Yevropa uyg'onish davri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350" y="1911352"/>
            <a:ext cx="536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Islom ilm-fani Yevropa uyg'onish davriga asos bo'ldi. 12-13 asrlarda Ispaniya va Sitsiliyada ko'plab arabcha ilmiy asarlar lotin tiliga tarjima qilindi.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4350" y="2451102"/>
            <a:ext cx="2603500" cy="666750"/>
          </a:xfrm>
          <a:custGeom>
            <a:avLst/>
            <a:gdLst/>
            <a:ahLst/>
            <a:cxnLst/>
            <a:rect l="l" t="t" r="r" b="b"/>
            <a:pathLst>
              <a:path w="2603500" h="666750">
                <a:moveTo>
                  <a:pt x="63501" y="0"/>
                </a:moveTo>
                <a:lnTo>
                  <a:pt x="2539999" y="0"/>
                </a:lnTo>
                <a:cubicBezTo>
                  <a:pt x="2575070" y="0"/>
                  <a:pt x="2603500" y="28430"/>
                  <a:pt x="2603500" y="63501"/>
                </a:cubicBezTo>
                <a:lnTo>
                  <a:pt x="2603500" y="603249"/>
                </a:lnTo>
                <a:cubicBezTo>
                  <a:pt x="2603500" y="638320"/>
                  <a:pt x="2575070" y="666750"/>
                  <a:pt x="253999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50069" y="2546352"/>
            <a:ext cx="2532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AE8E6B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600+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7850" y="2832102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Tarjima qilingan asarlar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14688" y="2451102"/>
            <a:ext cx="2603500" cy="666750"/>
          </a:xfrm>
          <a:custGeom>
            <a:avLst/>
            <a:gdLst/>
            <a:ahLst/>
            <a:cxnLst/>
            <a:rect l="l" t="t" r="r" b="b"/>
            <a:pathLst>
              <a:path w="2603500" h="666750">
                <a:moveTo>
                  <a:pt x="63501" y="0"/>
                </a:moveTo>
                <a:lnTo>
                  <a:pt x="2539999" y="0"/>
                </a:lnTo>
                <a:cubicBezTo>
                  <a:pt x="2575070" y="0"/>
                  <a:pt x="2603500" y="28430"/>
                  <a:pt x="2603500" y="63501"/>
                </a:cubicBezTo>
                <a:lnTo>
                  <a:pt x="2603500" y="603249"/>
                </a:lnTo>
                <a:cubicBezTo>
                  <a:pt x="2603500" y="638320"/>
                  <a:pt x="2575070" y="666750"/>
                  <a:pt x="253999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50406" y="2546352"/>
            <a:ext cx="2532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AE8E6B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12-13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78188" y="2832102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Asrlar davomida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675" y="3444876"/>
            <a:ext cx="5689600" cy="7467600"/>
          </a:xfrm>
          <a:custGeom>
            <a:avLst/>
            <a:gdLst/>
            <a:ahLst/>
            <a:cxnLst/>
            <a:rect l="l" t="t" r="r" b="b"/>
            <a:pathLst>
              <a:path w="5689600" h="7467600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7372356"/>
                </a:lnTo>
                <a:cubicBezTo>
                  <a:pt x="5689600" y="7424958"/>
                  <a:pt x="5646958" y="7467600"/>
                  <a:pt x="5594356" y="7467600"/>
                </a:cubicBezTo>
                <a:lnTo>
                  <a:pt x="95244" y="7467600"/>
                </a:lnTo>
                <a:cubicBezTo>
                  <a:pt x="42642" y="7467600"/>
                  <a:pt x="0" y="7424958"/>
                  <a:pt x="0" y="7372356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444" y="363854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43811"/>
                </a:moveTo>
                <a:lnTo>
                  <a:pt x="79375" y="139712"/>
                </a:lnTo>
                <a:lnTo>
                  <a:pt x="79530" y="139650"/>
                </a:lnTo>
                <a:cubicBezTo>
                  <a:pt x="96459" y="132612"/>
                  <a:pt x="114629" y="128984"/>
                  <a:pt x="132953" y="128984"/>
                </a:cubicBezTo>
                <a:lnTo>
                  <a:pt x="138906" y="128984"/>
                </a:lnTo>
                <a:lnTo>
                  <a:pt x="138906" y="29766"/>
                </a:lnTo>
                <a:lnTo>
                  <a:pt x="132953" y="29766"/>
                </a:lnTo>
                <a:cubicBezTo>
                  <a:pt x="119869" y="29766"/>
                  <a:pt x="106877" y="32370"/>
                  <a:pt x="94785" y="37393"/>
                </a:cubicBezTo>
                <a:cubicBezTo>
                  <a:pt x="89576" y="39563"/>
                  <a:pt x="84429" y="41703"/>
                  <a:pt x="79375" y="43811"/>
                </a:cubicBezTo>
                <a:close/>
                <a:moveTo>
                  <a:pt x="71593" y="19069"/>
                </a:moveTo>
                <a:lnTo>
                  <a:pt x="79375" y="22324"/>
                </a:lnTo>
                <a:lnTo>
                  <a:pt x="87157" y="19069"/>
                </a:lnTo>
                <a:cubicBezTo>
                  <a:pt x="101668" y="13022"/>
                  <a:pt x="117233" y="9922"/>
                  <a:pt x="132953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133945"/>
                </a:lnTo>
                <a:cubicBezTo>
                  <a:pt x="158750" y="142162"/>
                  <a:pt x="152084" y="148828"/>
                  <a:pt x="143867" y="148828"/>
                </a:cubicBezTo>
                <a:lnTo>
                  <a:pt x="132953" y="148828"/>
                </a:lnTo>
                <a:cubicBezTo>
                  <a:pt x="117233" y="148828"/>
                  <a:pt x="101668" y="151929"/>
                  <a:pt x="87157" y="157975"/>
                </a:cubicBezTo>
                <a:lnTo>
                  <a:pt x="83189" y="159618"/>
                </a:lnTo>
                <a:cubicBezTo>
                  <a:pt x="80739" y="160641"/>
                  <a:pt x="78011" y="160641"/>
                  <a:pt x="75561" y="159618"/>
                </a:cubicBezTo>
                <a:lnTo>
                  <a:pt x="71593" y="157975"/>
                </a:lnTo>
                <a:cubicBezTo>
                  <a:pt x="57082" y="151929"/>
                  <a:pt x="41517" y="148828"/>
                  <a:pt x="25797" y="148828"/>
                </a:cubicBezTo>
                <a:lnTo>
                  <a:pt x="14883" y="148828"/>
                </a:lnTo>
                <a:cubicBezTo>
                  <a:pt x="6666" y="148828"/>
                  <a:pt x="0" y="142162"/>
                  <a:pt x="0" y="133945"/>
                </a:cubicBezTo>
                <a:lnTo>
                  <a:pt x="0" y="24805"/>
                </a:lnTo>
                <a:cubicBezTo>
                  <a:pt x="0" y="16588"/>
                  <a:pt x="6666" y="9922"/>
                  <a:pt x="14883" y="9922"/>
                </a:cubicBezTo>
                <a:lnTo>
                  <a:pt x="25797" y="9922"/>
                </a:lnTo>
                <a:cubicBezTo>
                  <a:pt x="41517" y="9922"/>
                  <a:pt x="57082" y="13022"/>
                  <a:pt x="71593" y="19069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19" name="Text 17"/>
          <p:cNvSpPr/>
          <p:nvPr/>
        </p:nvSpPr>
        <p:spPr>
          <a:xfrm>
            <a:off x="681037" y="3606799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Tarjima qilingan asarlar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4506" y="400367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1" name="Text 19"/>
          <p:cNvSpPr/>
          <p:nvPr/>
        </p:nvSpPr>
        <p:spPr>
          <a:xfrm>
            <a:off x="665163" y="3956049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Matematika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26594" y="400367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3" name="Text 21"/>
          <p:cNvSpPr/>
          <p:nvPr/>
        </p:nvSpPr>
        <p:spPr>
          <a:xfrm>
            <a:off x="3397250" y="3956049"/>
            <a:ext cx="51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Tibbiyot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4506" y="428942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5" name="Text 23"/>
          <p:cNvSpPr/>
          <p:nvPr/>
        </p:nvSpPr>
        <p:spPr>
          <a:xfrm>
            <a:off x="665163" y="4241799"/>
            <a:ext cx="74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Astronomiya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26594" y="428942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7" name="Text 25"/>
          <p:cNvSpPr/>
          <p:nvPr/>
        </p:nvSpPr>
        <p:spPr>
          <a:xfrm>
            <a:off x="3397250" y="4241799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Falsafa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4506" y="457517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29" name="Text 27"/>
          <p:cNvSpPr/>
          <p:nvPr/>
        </p:nvSpPr>
        <p:spPr>
          <a:xfrm>
            <a:off x="665163" y="4527549"/>
            <a:ext cx="40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Kimyo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26594" y="457517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31" name="Text 29"/>
          <p:cNvSpPr/>
          <p:nvPr/>
        </p:nvSpPr>
        <p:spPr>
          <a:xfrm>
            <a:off x="3397250" y="4527549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Geografiya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8550" y="1146175"/>
            <a:ext cx="5689600" cy="8261350"/>
          </a:xfrm>
          <a:custGeom>
            <a:avLst/>
            <a:gdLst/>
            <a:ahLst/>
            <a:cxnLst/>
            <a:rect l="l" t="t" r="r" b="b"/>
            <a:pathLst>
              <a:path w="5689600" h="8261350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8166106"/>
                </a:lnTo>
                <a:cubicBezTo>
                  <a:pt x="5689600" y="8218708"/>
                  <a:pt x="5646958" y="8261350"/>
                  <a:pt x="5594356" y="8261350"/>
                </a:cubicBezTo>
                <a:lnTo>
                  <a:pt x="95244" y="8261350"/>
                </a:lnTo>
                <a:cubicBezTo>
                  <a:pt x="42642" y="8261350"/>
                  <a:pt x="0" y="8218708"/>
                  <a:pt x="0" y="8166106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AE8E6B">
                <a:alpha val="40000"/>
              </a:srgbClr>
            </a:solidFill>
            <a:prstDash val="solid"/>
          </a:ln>
        </p:spPr>
      </p:sp>
      <p:pic>
        <p:nvPicPr>
          <p:cNvPr id="33" name="Image 0" descr="https://kimi-web-img.moonshot.cn/img/muslimheritage.com/a85e63b8aed3dd9f5e36350554f2d4b80dde3631.jpg"/>
          <p:cNvPicPr>
            <a:picLocks noChangeAspect="1"/>
          </p:cNvPicPr>
          <p:nvPr/>
        </p:nvPicPr>
        <p:blipFill>
          <a:blip r:embed="rId3"/>
          <a:srcRect l="26" r="26"/>
          <a:stretch/>
        </p:blipFill>
        <p:spPr>
          <a:xfrm>
            <a:off x="6181725" y="1149350"/>
            <a:ext cx="5683250" cy="8255000"/>
          </a:xfrm>
          <a:prstGeom prst="roundRect">
            <a:avLst>
              <a:gd name="adj" fmla="val 1676"/>
            </a:avLst>
          </a:prstGeom>
        </p:spPr>
      </p:pic>
      <p:sp>
        <p:nvSpPr>
          <p:cNvPr id="34" name="Shape 31"/>
          <p:cNvSpPr/>
          <p:nvPr/>
        </p:nvSpPr>
        <p:spPr>
          <a:xfrm>
            <a:off x="6178550" y="9541073"/>
            <a:ext cx="5689600" cy="1371600"/>
          </a:xfrm>
          <a:custGeom>
            <a:avLst/>
            <a:gdLst/>
            <a:ahLst/>
            <a:cxnLst/>
            <a:rect l="l" t="t" r="r" b="b"/>
            <a:pathLst>
              <a:path w="5689600" h="1371600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1276356"/>
                </a:lnTo>
                <a:cubicBezTo>
                  <a:pt x="5689600" y="1328958"/>
                  <a:pt x="5646958" y="1371600"/>
                  <a:pt x="5594356" y="1371600"/>
                </a:cubicBezTo>
                <a:lnTo>
                  <a:pt x="95244" y="1371600"/>
                </a:lnTo>
                <a:cubicBezTo>
                  <a:pt x="42642" y="1371600"/>
                  <a:pt x="0" y="1328958"/>
                  <a:pt x="0" y="1276356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AE8E6B">
                <a:alpha val="3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72225" y="9734751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499225" y="98617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0724" y="74302"/>
                </a:moveTo>
                <a:lnTo>
                  <a:pt x="32221" y="85799"/>
                </a:lnTo>
                <a:cubicBezTo>
                  <a:pt x="34454" y="88032"/>
                  <a:pt x="37467" y="89297"/>
                  <a:pt x="40630" y="89297"/>
                </a:cubicBezTo>
                <a:lnTo>
                  <a:pt x="48630" y="89297"/>
                </a:lnTo>
                <a:cubicBezTo>
                  <a:pt x="51792" y="89297"/>
                  <a:pt x="54806" y="90562"/>
                  <a:pt x="57038" y="92794"/>
                </a:cubicBezTo>
                <a:lnTo>
                  <a:pt x="67940" y="103696"/>
                </a:lnTo>
                <a:cubicBezTo>
                  <a:pt x="70172" y="105928"/>
                  <a:pt x="71438" y="108942"/>
                  <a:pt x="71438" y="112105"/>
                </a:cubicBezTo>
                <a:lnTo>
                  <a:pt x="71438" y="126057"/>
                </a:lnTo>
                <a:cubicBezTo>
                  <a:pt x="71438" y="129220"/>
                  <a:pt x="72703" y="132234"/>
                  <a:pt x="74935" y="134466"/>
                </a:cubicBezTo>
                <a:lnTo>
                  <a:pt x="79883" y="139415"/>
                </a:lnTo>
                <a:cubicBezTo>
                  <a:pt x="82116" y="141647"/>
                  <a:pt x="83381" y="144661"/>
                  <a:pt x="83381" y="147824"/>
                </a:cubicBezTo>
                <a:lnTo>
                  <a:pt x="83381" y="154781"/>
                </a:lnTo>
                <a:cubicBezTo>
                  <a:pt x="83381" y="161367"/>
                  <a:pt x="88702" y="166688"/>
                  <a:pt x="95287" y="166688"/>
                </a:cubicBezTo>
                <a:cubicBezTo>
                  <a:pt x="101873" y="166688"/>
                  <a:pt x="107193" y="161367"/>
                  <a:pt x="107193" y="154781"/>
                </a:cubicBezTo>
                <a:lnTo>
                  <a:pt x="107193" y="153777"/>
                </a:lnTo>
                <a:cubicBezTo>
                  <a:pt x="107193" y="150614"/>
                  <a:pt x="108458" y="147600"/>
                  <a:pt x="110691" y="145368"/>
                </a:cubicBezTo>
                <a:lnTo>
                  <a:pt x="127546" y="128513"/>
                </a:lnTo>
                <a:cubicBezTo>
                  <a:pt x="129778" y="126281"/>
                  <a:pt x="131043" y="123267"/>
                  <a:pt x="131043" y="120104"/>
                </a:cubicBezTo>
                <a:lnTo>
                  <a:pt x="131043" y="107193"/>
                </a:lnTo>
                <a:cubicBezTo>
                  <a:pt x="131043" y="100608"/>
                  <a:pt x="125723" y="95287"/>
                  <a:pt x="119137" y="95287"/>
                </a:cubicBezTo>
                <a:lnTo>
                  <a:pt x="88367" y="95287"/>
                </a:lnTo>
                <a:cubicBezTo>
                  <a:pt x="85204" y="95287"/>
                  <a:pt x="82190" y="94022"/>
                  <a:pt x="79958" y="91790"/>
                </a:cubicBezTo>
                <a:lnTo>
                  <a:pt x="74005" y="85837"/>
                </a:lnTo>
                <a:cubicBezTo>
                  <a:pt x="72442" y="84274"/>
                  <a:pt x="71549" y="82116"/>
                  <a:pt x="71549" y="79883"/>
                </a:cubicBezTo>
                <a:cubicBezTo>
                  <a:pt x="71549" y="75233"/>
                  <a:pt x="75307" y="71475"/>
                  <a:pt x="79958" y="71475"/>
                </a:cubicBezTo>
                <a:lnTo>
                  <a:pt x="92869" y="71475"/>
                </a:lnTo>
                <a:cubicBezTo>
                  <a:pt x="97520" y="71475"/>
                  <a:pt x="101278" y="67717"/>
                  <a:pt x="101278" y="63066"/>
                </a:cubicBezTo>
                <a:cubicBezTo>
                  <a:pt x="101278" y="60833"/>
                  <a:pt x="100385" y="58675"/>
                  <a:pt x="98822" y="57113"/>
                </a:cubicBezTo>
                <a:lnTo>
                  <a:pt x="91492" y="49783"/>
                </a:lnTo>
                <a:cubicBezTo>
                  <a:pt x="90041" y="48369"/>
                  <a:pt x="89297" y="46546"/>
                  <a:pt x="89297" y="44648"/>
                </a:cubicBezTo>
                <a:cubicBezTo>
                  <a:pt x="89297" y="42751"/>
                  <a:pt x="90041" y="40928"/>
                  <a:pt x="91418" y="39551"/>
                </a:cubicBezTo>
                <a:lnTo>
                  <a:pt x="97854" y="33114"/>
                </a:lnTo>
                <a:cubicBezTo>
                  <a:pt x="100013" y="30956"/>
                  <a:pt x="101240" y="28017"/>
                  <a:pt x="101240" y="24966"/>
                </a:cubicBezTo>
                <a:cubicBezTo>
                  <a:pt x="101240" y="22287"/>
                  <a:pt x="100347" y="19869"/>
                  <a:pt x="98859" y="17934"/>
                </a:cubicBezTo>
                <a:cubicBezTo>
                  <a:pt x="97668" y="17897"/>
                  <a:pt x="96478" y="17859"/>
                  <a:pt x="95287" y="17859"/>
                </a:cubicBezTo>
                <a:cubicBezTo>
                  <a:pt x="59792" y="17859"/>
                  <a:pt x="29914" y="41746"/>
                  <a:pt x="20762" y="74302"/>
                </a:cubicBezTo>
                <a:close/>
                <a:moveTo>
                  <a:pt x="172641" y="95250"/>
                </a:moveTo>
                <a:cubicBezTo>
                  <a:pt x="172641" y="82376"/>
                  <a:pt x="169515" y="70247"/>
                  <a:pt x="163934" y="59606"/>
                </a:cubicBezTo>
                <a:cubicBezTo>
                  <a:pt x="161553" y="59941"/>
                  <a:pt x="159209" y="61057"/>
                  <a:pt x="157274" y="62992"/>
                </a:cubicBezTo>
                <a:lnTo>
                  <a:pt x="152288" y="67977"/>
                </a:lnTo>
                <a:cubicBezTo>
                  <a:pt x="150056" y="70210"/>
                  <a:pt x="148791" y="73223"/>
                  <a:pt x="148791" y="76386"/>
                </a:cubicBezTo>
                <a:lnTo>
                  <a:pt x="148791" y="89297"/>
                </a:lnTo>
                <a:cubicBezTo>
                  <a:pt x="148791" y="95883"/>
                  <a:pt x="154112" y="101203"/>
                  <a:pt x="160697" y="101203"/>
                </a:cubicBezTo>
                <a:lnTo>
                  <a:pt x="169664" y="101203"/>
                </a:lnTo>
                <a:cubicBezTo>
                  <a:pt x="170594" y="101203"/>
                  <a:pt x="171524" y="101092"/>
                  <a:pt x="172380" y="100905"/>
                </a:cubicBezTo>
                <a:cubicBezTo>
                  <a:pt x="172529" y="99045"/>
                  <a:pt x="172566" y="97148"/>
                  <a:pt x="172566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7" name="Text 34"/>
          <p:cNvSpPr/>
          <p:nvPr/>
        </p:nvSpPr>
        <p:spPr>
          <a:xfrm>
            <a:off x="6943725" y="9830001"/>
            <a:ext cx="2690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Zamonaviy ilm-fanga ta'sir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372225" y="10306251"/>
            <a:ext cx="536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Islom olimlarining kashfiyotlari va tadqiqotlari zamonaviy ilm-fanning rivojlanishiga katta ta'sir ko'rsatdi. Algebra, algoritm, kimyo kabi so'zlar arab tilidan kelib chiqqan.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33375" y="11042849"/>
            <a:ext cx="11541125" cy="444500"/>
          </a:xfrm>
          <a:custGeom>
            <a:avLst/>
            <a:gdLst/>
            <a:ahLst/>
            <a:cxnLst/>
            <a:rect l="l" t="t" r="r" b="b"/>
            <a:pathLst>
              <a:path w="11541125" h="444500">
                <a:moveTo>
                  <a:pt x="31750" y="0"/>
                </a:moveTo>
                <a:lnTo>
                  <a:pt x="11477624" y="0"/>
                </a:lnTo>
                <a:cubicBezTo>
                  <a:pt x="11512695" y="0"/>
                  <a:pt x="11541125" y="28430"/>
                  <a:pt x="11541125" y="63501"/>
                </a:cubicBezTo>
                <a:lnTo>
                  <a:pt x="11541125" y="380999"/>
                </a:lnTo>
                <a:cubicBezTo>
                  <a:pt x="11541125" y="416070"/>
                  <a:pt x="11512695" y="444500"/>
                  <a:pt x="11477624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E8E6B">
              <a:alpha val="1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33375" y="11042849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41" name="Shape 38"/>
          <p:cNvSpPr/>
          <p:nvPr/>
        </p:nvSpPr>
        <p:spPr>
          <a:xfrm>
            <a:off x="492125" y="111952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AE8E6B"/>
          </a:solidFill>
          <a:ln/>
        </p:spPr>
      </p:sp>
      <p:sp>
        <p:nvSpPr>
          <p:cNvPr id="42" name="Text 39"/>
          <p:cNvSpPr/>
          <p:nvPr/>
        </p:nvSpPr>
        <p:spPr>
          <a:xfrm>
            <a:off x="674688" y="11169849"/>
            <a:ext cx="11136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Toledo, Sitsiliya va Bag'dod tarjima markazlari orqali Islom ilm-fani butun Yevropaga tarqaldi.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historyhit.com/7c567094337abd87c971753319dca5c9b2041f2b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AE8E6B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AE8E6B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XULOSA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403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Asosiy xulosalar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1450657"/>
            <a:ext cx="3674745" cy="2636520"/>
          </a:xfrm>
          <a:custGeom>
            <a:avLst/>
            <a:gdLst/>
            <a:ahLst/>
            <a:cxnLst/>
            <a:rect l="l" t="t" r="r" b="b"/>
            <a:pathLst>
              <a:path w="3674745" h="2636520">
                <a:moveTo>
                  <a:pt x="114293" y="0"/>
                </a:moveTo>
                <a:lnTo>
                  <a:pt x="3560452" y="0"/>
                </a:lnTo>
                <a:cubicBezTo>
                  <a:pt x="3623532" y="0"/>
                  <a:pt x="3674745" y="51213"/>
                  <a:pt x="3674745" y="114293"/>
                </a:cubicBezTo>
                <a:lnTo>
                  <a:pt x="3674745" y="2522227"/>
                </a:lnTo>
                <a:cubicBezTo>
                  <a:pt x="3674745" y="2585307"/>
                  <a:pt x="3623532" y="2636520"/>
                  <a:pt x="3560452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5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 w="10160">
            <a:solidFill>
              <a:srgbClr val="AE8E6B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17621" y="16830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64067" y="184499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1" name="Text 8"/>
          <p:cNvSpPr/>
          <p:nvPr/>
        </p:nvSpPr>
        <p:spPr>
          <a:xfrm>
            <a:off x="560070" y="2445069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Ilmiy hissa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9120" y="2864048"/>
            <a:ext cx="3286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Islom madaniyati ilm-fanga katta hissa qo'shgan. O'rta asrlar oltin davrida matematika, tibbiyot, astronomiya va boshqa fanlar ulkan rivojlandi.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58270" y="1450657"/>
            <a:ext cx="3674745" cy="2636520"/>
          </a:xfrm>
          <a:custGeom>
            <a:avLst/>
            <a:gdLst/>
            <a:ahLst/>
            <a:cxnLst/>
            <a:rect l="l" t="t" r="r" b="b"/>
            <a:pathLst>
              <a:path w="3674745" h="2636520">
                <a:moveTo>
                  <a:pt x="114293" y="0"/>
                </a:moveTo>
                <a:lnTo>
                  <a:pt x="3560452" y="0"/>
                </a:lnTo>
                <a:cubicBezTo>
                  <a:pt x="3623532" y="0"/>
                  <a:pt x="3674745" y="51213"/>
                  <a:pt x="3674745" y="114293"/>
                </a:cubicBezTo>
                <a:lnTo>
                  <a:pt x="3674745" y="2522227"/>
                </a:lnTo>
                <a:cubicBezTo>
                  <a:pt x="3674745" y="2585307"/>
                  <a:pt x="3623532" y="2636520"/>
                  <a:pt x="3560452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5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 w="10160">
            <a:solidFill>
              <a:srgbClr val="AE8E6B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91081" y="16830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973246" y="184499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6" name="Text 13"/>
          <p:cNvSpPr/>
          <p:nvPr/>
        </p:nvSpPr>
        <p:spPr>
          <a:xfrm>
            <a:off x="4433530" y="2445069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Allomalar merosi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52580" y="2864048"/>
            <a:ext cx="32861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Buyuk allomalar merosi bugungi kunda ham muhim ahamiyatga ega. Al-Xorazmiy, Ibn Sino, Beruniy kabi olimlar zamonaviy ilm-fan asoschilaridir.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31731" y="1450657"/>
            <a:ext cx="3674745" cy="2636520"/>
          </a:xfrm>
          <a:custGeom>
            <a:avLst/>
            <a:gdLst/>
            <a:ahLst/>
            <a:cxnLst/>
            <a:rect l="l" t="t" r="r" b="b"/>
            <a:pathLst>
              <a:path w="3674745" h="2636520">
                <a:moveTo>
                  <a:pt x="114293" y="0"/>
                </a:moveTo>
                <a:lnTo>
                  <a:pt x="3560452" y="0"/>
                </a:lnTo>
                <a:cubicBezTo>
                  <a:pt x="3623532" y="0"/>
                  <a:pt x="3674745" y="51213"/>
                  <a:pt x="3674745" y="114293"/>
                </a:cubicBezTo>
                <a:lnTo>
                  <a:pt x="3674745" y="2522227"/>
                </a:lnTo>
                <a:cubicBezTo>
                  <a:pt x="3674745" y="2585307"/>
                  <a:pt x="3623532" y="2636520"/>
                  <a:pt x="3560452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5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 w="10160">
            <a:solidFill>
              <a:srgbClr val="AE8E6B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64661" y="16830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E8E6B">
              <a:alpha val="3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9811107" y="184499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1" name="Text 18"/>
          <p:cNvSpPr/>
          <p:nvPr/>
        </p:nvSpPr>
        <p:spPr>
          <a:xfrm>
            <a:off x="8306991" y="2445069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Ilm olish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26041" y="2864048"/>
            <a:ext cx="3286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Ilm olish – jamiyat rivojining asosi. Islom madaniyati ilm olishni har bir insonning burchi deb bilgan va bunga katta ahamiyat bergan.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4810" y="4285181"/>
            <a:ext cx="11418570" cy="1693545"/>
          </a:xfrm>
          <a:custGeom>
            <a:avLst/>
            <a:gdLst/>
            <a:ahLst/>
            <a:cxnLst/>
            <a:rect l="l" t="t" r="r" b="b"/>
            <a:pathLst>
              <a:path w="11418570" h="1693545">
                <a:moveTo>
                  <a:pt x="114297" y="0"/>
                </a:moveTo>
                <a:lnTo>
                  <a:pt x="11304273" y="0"/>
                </a:lnTo>
                <a:cubicBezTo>
                  <a:pt x="11367397" y="0"/>
                  <a:pt x="11418570" y="51173"/>
                  <a:pt x="11418570" y="114297"/>
                </a:cubicBezTo>
                <a:lnTo>
                  <a:pt x="11418570" y="1579248"/>
                </a:lnTo>
                <a:cubicBezTo>
                  <a:pt x="11418570" y="1642372"/>
                  <a:pt x="11367397" y="1693545"/>
                  <a:pt x="11304273" y="1693545"/>
                </a:cubicBezTo>
                <a:lnTo>
                  <a:pt x="114297" y="1693545"/>
                </a:lnTo>
                <a:cubicBezTo>
                  <a:pt x="51173" y="1693545"/>
                  <a:pt x="0" y="1642372"/>
                  <a:pt x="0" y="157924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AE8E6B">
                  <a:alpha val="30000"/>
                </a:srgbClr>
              </a:gs>
              <a:gs pos="50000">
                <a:srgbClr val="AE8E6B">
                  <a:alpha val="20000"/>
                </a:srgbClr>
              </a:gs>
              <a:gs pos="100000">
                <a:srgbClr val="AE8E6B">
                  <a:alpha val="30000"/>
                </a:srgbClr>
              </a:gs>
            </a:gsLst>
            <a:lin ang="0" scaled="1"/>
          </a:gradFill>
          <a:ln w="10160">
            <a:solidFill>
              <a:srgbClr val="AE8E6B">
                <a:alpha val="5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46909" y="451758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E8E6B">
              <a:alpha val="4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992166" y="465093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6" name="Text 23"/>
          <p:cNvSpPr/>
          <p:nvPr/>
        </p:nvSpPr>
        <p:spPr>
          <a:xfrm>
            <a:off x="4456509" y="4574739"/>
            <a:ext cx="3419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Ilm - nur, jahl - zulmat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887891" y="451758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E8E6B">
              <a:alpha val="4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8033147" y="465093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110133"/>
                </a:moveTo>
                <a:cubicBezTo>
                  <a:pt x="166688" y="134801"/>
                  <a:pt x="146707" y="154781"/>
                  <a:pt x="122039" y="154781"/>
                </a:cubicBezTo>
                <a:lnTo>
                  <a:pt x="119063" y="154781"/>
                </a:lnTo>
                <a:cubicBezTo>
                  <a:pt x="112477" y="154781"/>
                  <a:pt x="107156" y="149461"/>
                  <a:pt x="107156" y="142875"/>
                </a:cubicBezTo>
                <a:cubicBezTo>
                  <a:pt x="107156" y="136289"/>
                  <a:pt x="112477" y="130969"/>
                  <a:pt x="119063" y="130969"/>
                </a:cubicBezTo>
                <a:lnTo>
                  <a:pt x="122039" y="130969"/>
                </a:lnTo>
                <a:cubicBezTo>
                  <a:pt x="133536" y="130969"/>
                  <a:pt x="142875" y="121630"/>
                  <a:pt x="142875" y="110133"/>
                </a:cubicBezTo>
                <a:lnTo>
                  <a:pt x="142875" y="107156"/>
                </a:lnTo>
                <a:lnTo>
                  <a:pt x="119063" y="107156"/>
                </a:lnTo>
                <a:cubicBezTo>
                  <a:pt x="105928" y="107156"/>
                  <a:pt x="95250" y="96478"/>
                  <a:pt x="95250" y="83344"/>
                </a:cubicBezTo>
                <a:lnTo>
                  <a:pt x="95250" y="59531"/>
                </a:lnTo>
                <a:cubicBezTo>
                  <a:pt x="95250" y="46397"/>
                  <a:pt x="105928" y="35719"/>
                  <a:pt x="119063" y="35719"/>
                </a:cubicBezTo>
                <a:lnTo>
                  <a:pt x="142875" y="35719"/>
                </a:lnTo>
                <a:cubicBezTo>
                  <a:pt x="156009" y="35719"/>
                  <a:pt x="166688" y="46397"/>
                  <a:pt x="166688" y="59531"/>
                </a:cubicBezTo>
                <a:lnTo>
                  <a:pt x="166688" y="110133"/>
                </a:lnTo>
                <a:close/>
                <a:moveTo>
                  <a:pt x="71438" y="110133"/>
                </a:moveTo>
                <a:cubicBezTo>
                  <a:pt x="71438" y="134801"/>
                  <a:pt x="51457" y="154781"/>
                  <a:pt x="26789" y="154781"/>
                </a:cubicBezTo>
                <a:lnTo>
                  <a:pt x="23812" y="154781"/>
                </a:lnTo>
                <a:cubicBezTo>
                  <a:pt x="17227" y="154781"/>
                  <a:pt x="11906" y="149461"/>
                  <a:pt x="11906" y="142875"/>
                </a:cubicBezTo>
                <a:cubicBezTo>
                  <a:pt x="11906" y="136289"/>
                  <a:pt x="17227" y="130969"/>
                  <a:pt x="23812" y="130969"/>
                </a:cubicBezTo>
                <a:lnTo>
                  <a:pt x="26789" y="130969"/>
                </a:lnTo>
                <a:cubicBezTo>
                  <a:pt x="38286" y="130969"/>
                  <a:pt x="47625" y="121630"/>
                  <a:pt x="47625" y="110133"/>
                </a:cubicBezTo>
                <a:lnTo>
                  <a:pt x="47625" y="107156"/>
                </a:lnTo>
                <a:lnTo>
                  <a:pt x="23812" y="107156"/>
                </a:lnTo>
                <a:cubicBezTo>
                  <a:pt x="10678" y="107156"/>
                  <a:pt x="0" y="96478"/>
                  <a:pt x="0" y="83344"/>
                </a:cubicBezTo>
                <a:lnTo>
                  <a:pt x="0" y="59531"/>
                </a:lnTo>
                <a:cubicBezTo>
                  <a:pt x="0" y="46397"/>
                  <a:pt x="10678" y="35719"/>
                  <a:pt x="23812" y="35719"/>
                </a:cubicBezTo>
                <a:lnTo>
                  <a:pt x="47625" y="35719"/>
                </a:lnTo>
                <a:cubicBezTo>
                  <a:pt x="60759" y="35719"/>
                  <a:pt x="71438" y="46397"/>
                  <a:pt x="71438" y="59531"/>
                </a:cubicBezTo>
                <a:lnTo>
                  <a:pt x="71438" y="110133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9" name="Text 26"/>
          <p:cNvSpPr/>
          <p:nvPr/>
        </p:nvSpPr>
        <p:spPr>
          <a:xfrm>
            <a:off x="1781175" y="5127189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7FAFC">
                    <a:alpha val="95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Islom madaniyatining ilm-fanga qo'shgan hissasi butun insoniyatning umumiy boyligidir. Bu meros bizga ilm olishning, tadqiq qilishning va yangi bilimlarga intilishning muhimligini o'rgatadi.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628</Words>
  <Application>Microsoft Office PowerPoint</Application>
  <PresentationFormat>Widescreen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思源宋体</vt:lpstr>
      <vt:lpstr>LXGW Bright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Islom madaniyati va ilm-fan</dc:title>
  <dc:subject>Islom madaniyati va ilm-fan</dc:subject>
  <dc:creator>Kimi</dc:creator>
  <cp:lastModifiedBy>Muhammad Yoqubjonov</cp:lastModifiedBy>
  <cp:revision>2</cp:revision>
  <dcterms:created xsi:type="dcterms:W3CDTF">2026-03-24T02:10:21Z</dcterms:created>
  <dcterms:modified xsi:type="dcterms:W3CDTF">2026-03-31T07:46:57Z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{"Label":"Islom madaniyati va ilm-fan","ContentProducer":"001191110108MACG2KBH8F10000","ProduceID":"19d1d943-7e52-882c-8000-000001a33647","ReservedCode1":"","ContentPropagator":"001191110108MACG2KBH8F20000","PropagateID":"19d1d943-7e52-882c-8000-000001a33647","ReservedCode2":""}</vt:lpwstr>
  </property>
</Properties>
</file>